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6" r:id="rId3"/>
    <p:sldId id="257" r:id="rId4"/>
    <p:sldId id="258" r:id="rId5"/>
    <p:sldId id="259" r:id="rId6"/>
    <p:sldId id="260" r:id="rId7"/>
    <p:sldId id="261" r:id="rId8"/>
    <p:sldId id="262" r:id="rId9"/>
    <p:sldId id="263" r:id="rId10"/>
    <p:sldId id="266" r:id="rId11"/>
    <p:sldId id="264" r:id="rId12"/>
    <p:sldId id="265"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snapToObjects="1">
      <p:cViewPr varScale="1">
        <p:scale>
          <a:sx n="90" d="100"/>
          <a:sy n="90" d="100"/>
        </p:scale>
        <p:origin x="125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7F9B8-BC30-439E-84C6-EAF98E0BBC05}" type="datetimeFigureOut">
              <a:rPr lang="en-US" smtClean="0"/>
              <a:t>4/29/2025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78520-D297-4972-A74B-B11880CB5391}" type="slidenum">
              <a:rPr lang="en-US" smtClean="0"/>
              <a:t>‹#›</a:t>
            </a:fld>
            <a:endParaRPr lang="en-US"/>
          </a:p>
        </p:txBody>
      </p:sp>
    </p:spTree>
    <p:extLst>
      <p:ext uri="{BB962C8B-B14F-4D97-AF65-F5344CB8AC3E}">
        <p14:creationId xmlns:p14="http://schemas.microsoft.com/office/powerpoint/2010/main" val="1602830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578520-D297-4972-A74B-B11880CB5391}" type="slidenum">
              <a:rPr lang="en-US" smtClean="0"/>
              <a:t>2</a:t>
            </a:fld>
            <a:endParaRPr lang="en-US"/>
          </a:p>
        </p:txBody>
      </p:sp>
    </p:spTree>
    <p:extLst>
      <p:ext uri="{BB962C8B-B14F-4D97-AF65-F5344CB8AC3E}">
        <p14:creationId xmlns:p14="http://schemas.microsoft.com/office/powerpoint/2010/main" val="1428319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578520-D297-4972-A74B-B11880CB5391}" type="slidenum">
              <a:rPr lang="en-US" smtClean="0"/>
              <a:t>8</a:t>
            </a:fld>
            <a:endParaRPr lang="en-US"/>
          </a:p>
        </p:txBody>
      </p:sp>
    </p:spTree>
    <p:extLst>
      <p:ext uri="{BB962C8B-B14F-4D97-AF65-F5344CB8AC3E}">
        <p14:creationId xmlns:p14="http://schemas.microsoft.com/office/powerpoint/2010/main" val="1534070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media" Target="../media/media2.m4a"/><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audio" Target="../media/media2.m4a"/></Relationships>
</file>

<file path=ppt/slides/_rels/slide3.xml.rels><?xml version="1.0" encoding="UTF-8" standalone="yes"?>
<Relationships xmlns="http://schemas.openxmlformats.org/package/2006/relationships"><Relationship Id="rId3" Type="http://schemas.microsoft.com/office/2007/relationships/media" Target="../media/media4.m4a"/><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jpeg"/><Relationship Id="rId5" Type="http://schemas.openxmlformats.org/officeDocument/2006/relationships/slideLayout" Target="../slideLayouts/slideLayout2.xml"/><Relationship Id="rId4" Type="http://schemas.openxmlformats.org/officeDocument/2006/relationships/audio" Target="../media/media4.m4a"/></Relationships>
</file>

<file path=ppt/slides/_rels/slide4.xml.rels><?xml version="1.0" encoding="UTF-8" standalone="yes"?>
<Relationships xmlns="http://schemas.openxmlformats.org/package/2006/relationships"><Relationship Id="rId3" Type="http://schemas.microsoft.com/office/2007/relationships/media" Target="../media/media6.m4a"/><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4.jpeg"/><Relationship Id="rId5" Type="http://schemas.openxmlformats.org/officeDocument/2006/relationships/slideLayout" Target="../slideLayouts/slideLayout2.xml"/><Relationship Id="rId4" Type="http://schemas.openxmlformats.org/officeDocument/2006/relationships/audio" Target="../media/media6.m4a"/></Relationships>
</file>

<file path=ppt/slides/_rels/slide5.xml.rels><?xml version="1.0" encoding="UTF-8" standalone="yes"?>
<Relationships xmlns="http://schemas.openxmlformats.org/package/2006/relationships"><Relationship Id="rId3" Type="http://schemas.microsoft.com/office/2007/relationships/media" Target="../media/media8.m4a"/><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slideLayout" Target="../slideLayouts/slideLayout2.xml"/><Relationship Id="rId4" Type="http://schemas.openxmlformats.org/officeDocument/2006/relationships/audio" Target="../media/media8.m4a"/></Relationships>
</file>

<file path=ppt/slides/_rels/slide6.xml.rels><?xml version="1.0" encoding="UTF-8" standalone="yes"?>
<Relationships xmlns="http://schemas.openxmlformats.org/package/2006/relationships"><Relationship Id="rId3" Type="http://schemas.microsoft.com/office/2007/relationships/media" Target="../media/media10.m4a"/><Relationship Id="rId7" Type="http://schemas.openxmlformats.org/officeDocument/2006/relationships/image" Target="../media/image2.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5.jpeg"/><Relationship Id="rId5" Type="http://schemas.openxmlformats.org/officeDocument/2006/relationships/slideLayout" Target="../slideLayouts/slideLayout2.xml"/><Relationship Id="rId4" Type="http://schemas.openxmlformats.org/officeDocument/2006/relationships/audio" Target="../media/media10.m4a"/></Relationships>
</file>

<file path=ppt/slides/_rels/slide7.xml.rels><?xml version="1.0" encoding="UTF-8" standalone="yes"?>
<Relationships xmlns="http://schemas.openxmlformats.org/package/2006/relationships"><Relationship Id="rId8" Type="http://schemas.openxmlformats.org/officeDocument/2006/relationships/audio" Target="../media/media13.m4a"/><Relationship Id="rId3" Type="http://schemas.microsoft.com/office/2007/relationships/media" Target="../media/media6.m4a"/><Relationship Id="rId7" Type="http://schemas.microsoft.com/office/2007/relationships/media" Target="../media/media13.m4a"/><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audio" Target="../media/media12.m4a"/><Relationship Id="rId5" Type="http://schemas.microsoft.com/office/2007/relationships/media" Target="../media/media12.m4a"/><Relationship Id="rId10" Type="http://schemas.openxmlformats.org/officeDocument/2006/relationships/image" Target="../media/image2.png"/><Relationship Id="rId4" Type="http://schemas.openxmlformats.org/officeDocument/2006/relationships/audio" Target="../media/media6.m4a"/><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media" Target="../media/media15.m4a"/><Relationship Id="rId7" Type="http://schemas.openxmlformats.org/officeDocument/2006/relationships/image" Target="../media/image2.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audio" Target="../media/media15.m4a"/></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media" Target="../media/media17.m4a"/><Relationship Id="rId7"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audio" Target="../media/media18.m4a"/><Relationship Id="rId5" Type="http://schemas.microsoft.com/office/2007/relationships/media" Target="../media/media18.m4a"/><Relationship Id="rId4" Type="http://schemas.openxmlformats.org/officeDocument/2006/relationships/audio" Target="../media/media17.m4a"/><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media" Target="../media/media17.m4a"/><Relationship Id="rId7" Type="http://schemas.openxmlformats.org/officeDocument/2006/relationships/image" Target="../media/image2.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audio" Target="../media/media17.m4a"/></Relationships>
</file>

<file path=ppt/slides/_rels/slide12.xml.rels><?xml version="1.0" encoding="UTF-8" standalone="yes"?>
<Relationships xmlns="http://schemas.openxmlformats.org/package/2006/relationships"><Relationship Id="rId8" Type="http://schemas.openxmlformats.org/officeDocument/2006/relationships/audio" Target="../media/media17.m4a"/><Relationship Id="rId13" Type="http://schemas.openxmlformats.org/officeDocument/2006/relationships/image" Target="../media/image2.png"/><Relationship Id="rId3" Type="http://schemas.microsoft.com/office/2007/relationships/media" Target="../media/media6.m4a"/><Relationship Id="rId7" Type="http://schemas.microsoft.com/office/2007/relationships/media" Target="../media/media17.m4a"/><Relationship Id="rId12" Type="http://schemas.openxmlformats.org/officeDocument/2006/relationships/image" Target="../media/image9.jpeg"/><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audio" Target="../media/media18.m4a"/><Relationship Id="rId11" Type="http://schemas.openxmlformats.org/officeDocument/2006/relationships/slideLayout" Target="../slideLayouts/slideLayout2.xml"/><Relationship Id="rId5" Type="http://schemas.microsoft.com/office/2007/relationships/media" Target="../media/media18.m4a"/><Relationship Id="rId10" Type="http://schemas.openxmlformats.org/officeDocument/2006/relationships/audio" Target="../media/media12.m4a"/><Relationship Id="rId4" Type="http://schemas.openxmlformats.org/officeDocument/2006/relationships/audio" Target="../media/media6.m4a"/><Relationship Id="rId9" Type="http://schemas.microsoft.com/office/2007/relationships/media" Target="../media/media12.m4a"/></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2.m4a"/><Relationship Id="rId7" Type="http://schemas.openxmlformats.org/officeDocument/2006/relationships/image" Target="../media/image11.svg"/><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10.png"/><Relationship Id="rId5" Type="http://schemas.openxmlformats.org/officeDocument/2006/relationships/slideLayout" Target="../slideLayouts/slideLayout2.xml"/><Relationship Id="rId4" Type="http://schemas.openxmlformats.org/officeDocument/2006/relationships/audio" Target="../media/media22.m4a"/></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and white logo&#10;&#10;AI-generated content may be incorrect.">
            <a:extLst>
              <a:ext uri="{FF2B5EF4-FFF2-40B4-BE49-F238E27FC236}">
                <a16:creationId xmlns:a16="http://schemas.microsoft.com/office/drawing/2014/main" id="{0B063086-9C63-37B6-00B9-222C848F7042}"/>
              </a:ext>
            </a:extLst>
          </p:cNvPr>
          <p:cNvPicPr>
            <a:picLocks noChangeAspect="1"/>
          </p:cNvPicPr>
          <p:nvPr/>
        </p:nvPicPr>
        <p:blipFill>
          <a:blip r:embed="rId2"/>
          <a:stretch>
            <a:fillRect/>
          </a:stretch>
        </p:blipFill>
        <p:spPr>
          <a:xfrm>
            <a:off x="342900" y="1050131"/>
            <a:ext cx="8458200" cy="4757737"/>
          </a:xfrm>
          <a:prstGeom prst="rect">
            <a:avLst/>
          </a:prstGeom>
        </p:spPr>
      </p:pic>
    </p:spTree>
    <p:extLst>
      <p:ext uri="{BB962C8B-B14F-4D97-AF65-F5344CB8AC3E}">
        <p14:creationId xmlns:p14="http://schemas.microsoft.com/office/powerpoint/2010/main" val="123026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1"/>
            <a:ext cx="9169464"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3"/>
            <a:ext cx="8829202"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3"/>
            <a:ext cx="9175185"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505509" y="212908"/>
            <a:ext cx="6861931"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269287" y="1712598"/>
            <a:ext cx="4967533"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06400" y="818984"/>
            <a:ext cx="8253871" cy="3671126"/>
          </a:xfrm>
        </p:spPr>
        <p:txBody>
          <a:bodyPr vert="horz" lIns="91440" tIns="45720" rIns="91440" bIns="45720" rtlCol="0" anchor="b">
            <a:normAutofit fontScale="90000"/>
          </a:bodyPr>
          <a:lstStyle/>
          <a:p>
            <a:r>
              <a:rPr lang="en-US" sz="4200" kern="1200" dirty="0">
                <a:solidFill>
                  <a:srgbClr val="FFFFFF"/>
                </a:solidFill>
                <a:latin typeface="+mj-lt"/>
                <a:ea typeface="+mj-ea"/>
                <a:cs typeface="+mj-cs"/>
              </a:rPr>
              <a:t>CIFAR-10 Image Classification using Deep Learning (CNNs)</a:t>
            </a:r>
            <a:br>
              <a:rPr lang="en-US" sz="4200" kern="1200" dirty="0">
                <a:solidFill>
                  <a:srgbClr val="FFFFFF"/>
                </a:solidFill>
                <a:latin typeface="+mj-lt"/>
                <a:ea typeface="+mj-ea"/>
                <a:cs typeface="+mj-cs"/>
              </a:rPr>
            </a:br>
            <a:br>
              <a:rPr lang="en-US" sz="4200" dirty="0">
                <a:solidFill>
                  <a:srgbClr val="FFFFFF"/>
                </a:solidFill>
              </a:rPr>
            </a:br>
            <a:r>
              <a:rPr lang="en-US" sz="2000" dirty="0">
                <a:solidFill>
                  <a:srgbClr val="FFFFFF"/>
                </a:solidFill>
              </a:rPr>
              <a:t>Advanced Machine Learning (BA-64061-001) </a:t>
            </a:r>
            <a:br>
              <a:rPr lang="en-US" sz="2000" dirty="0">
                <a:solidFill>
                  <a:srgbClr val="FFFFFF"/>
                </a:solidFill>
              </a:rPr>
            </a:br>
            <a:r>
              <a:rPr lang="en-US" sz="2000" dirty="0">
                <a:solidFill>
                  <a:srgbClr val="FFFFFF"/>
                </a:solidFill>
              </a:rPr>
              <a:t>Dr. CJ Wu</a:t>
            </a:r>
            <a:br>
              <a:rPr lang="en-US" sz="2000" dirty="0">
                <a:solidFill>
                  <a:srgbClr val="FFFFFF"/>
                </a:solidFill>
              </a:rPr>
            </a:br>
            <a:br>
              <a:rPr lang="en-US" sz="2000" dirty="0">
                <a:solidFill>
                  <a:srgbClr val="FFFFFF"/>
                </a:solidFill>
              </a:rPr>
            </a:br>
            <a:r>
              <a:rPr lang="en-US" sz="2000" dirty="0">
                <a:solidFill>
                  <a:srgbClr val="FFFFFF"/>
                </a:solidFill>
              </a:rPr>
              <a:t>Presented By</a:t>
            </a:r>
            <a:br>
              <a:rPr lang="en-US" sz="2000" dirty="0">
                <a:solidFill>
                  <a:srgbClr val="FFFFFF"/>
                </a:solidFill>
              </a:rPr>
            </a:br>
            <a:r>
              <a:rPr lang="en-US" sz="2000" dirty="0">
                <a:solidFill>
                  <a:srgbClr val="FFFFFF"/>
                </a:solidFill>
              </a:rPr>
              <a:t>Rajesh Katherasala</a:t>
            </a:r>
            <a:br>
              <a:rPr lang="en-US" sz="2000" dirty="0">
                <a:solidFill>
                  <a:srgbClr val="FFFFFF"/>
                </a:solidFill>
              </a:rPr>
            </a:br>
            <a:r>
              <a:rPr lang="en-US" sz="2000" dirty="0">
                <a:solidFill>
                  <a:srgbClr val="FFFFFF"/>
                </a:solidFill>
              </a:rPr>
              <a:t>rkathera@kent.edu</a:t>
            </a:r>
            <a:br>
              <a:rPr lang="en-US" sz="2000" dirty="0">
                <a:solidFill>
                  <a:srgbClr val="FFFFFF"/>
                </a:solidFill>
              </a:rPr>
            </a:br>
            <a:endParaRPr lang="en-US" sz="2000" kern="1200" dirty="0">
              <a:solidFill>
                <a:srgbClr val="FFFFFF"/>
              </a:solidFill>
            </a:endParaRPr>
          </a:p>
        </p:txBody>
      </p:sp>
      <p:sp>
        <p:nvSpPr>
          <p:cNvPr id="51" name="Rectangle 5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90110"/>
            <a:ext cx="9163282"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Recorded Sound">
            <a:hlinkClick r:id="" action="ppaction://media"/>
            <a:extLst>
              <a:ext uri="{FF2B5EF4-FFF2-40B4-BE49-F238E27FC236}">
                <a16:creationId xmlns:a16="http://schemas.microsoft.com/office/drawing/2014/main" id="{9D86B46F-5FAD-46DD-F69A-D2E2A32BAC6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9" name="AUDIO-2025-04-29-21-06-55">
            <a:hlinkClick r:id="" action="ppaction://media"/>
            <a:extLst>
              <a:ext uri="{FF2B5EF4-FFF2-40B4-BE49-F238E27FC236}">
                <a16:creationId xmlns:a16="http://schemas.microsoft.com/office/drawing/2014/main" id="{F0C60FE7-610C-FF0B-8EFC-11F3C769A930}"/>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par>
                          <p:cTn id="8" fill="hold">
                            <p:stCondLst>
                              <p:cond delay="1200"/>
                            </p:stCondLst>
                            <p:childTnLst>
                              <p:par>
                                <p:cTn id="9" presetID="1" presetClass="mediacall" presetSubtype="0" fill="hold" nodeType="afterEffect">
                                  <p:stCondLst>
                                    <p:cond delay="0"/>
                                  </p:stCondLst>
                                  <p:childTnLst>
                                    <p:cmd type="call" cmd="playFrom(0.0)">
                                      <p:cBhvr>
                                        <p:cTn id="10" dur="22821" fill="hold"/>
                                        <p:tgtEl>
                                          <p:spTgt spid="3"/>
                                        </p:tgtEl>
                                      </p:cBhvr>
                                    </p:cmd>
                                  </p:childTnLst>
                                </p:cTn>
                              </p:par>
                            </p:childTnLst>
                          </p:cTn>
                        </p:par>
                        <p:par>
                          <p:cTn id="11" fill="hold">
                            <p:stCondLst>
                              <p:cond delay="24021"/>
                            </p:stCondLst>
                            <p:childTnLst>
                              <p:par>
                                <p:cTn id="12" presetID="1" presetClass="mediacall" presetSubtype="0" fill="hold" nodeType="afterEffect">
                                  <p:stCondLst>
                                    <p:cond delay="0"/>
                                  </p:stCondLst>
                                  <p:childTnLst>
                                    <p:cmd type="call" cmd="playFrom(0.0)">
                                      <p:cBhvr>
                                        <p:cTn id="13" dur="1674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14" fill="hold" display="0">
                  <p:stCondLst>
                    <p:cond delay="indefinite"/>
                  </p:stCondLst>
                  <p:endCondLst>
                    <p:cond evt="onStopAudio" delay="0">
                      <p:tgtEl>
                        <p:sldTgt/>
                      </p:tgtEl>
                    </p:cond>
                  </p:endCondLst>
                </p:cTn>
                <p:tgtEl>
                  <p:spTgt spid="3"/>
                </p:tgtEl>
              </p:cMediaNode>
            </p:audio>
            <p:audio>
              <p:cMediaNode vol="80000">
                <p:cTn id="15" fill="hold" display="0">
                  <p:stCondLst>
                    <p:cond delay="indefinite"/>
                  </p:stCondLst>
                  <p:endCondLst>
                    <p:cond evt="onStopAudio" delay="0">
                      <p:tgtEl>
                        <p:sldTgt/>
                      </p:tgtEl>
                    </p:cond>
                  </p:endCondLst>
                </p:cTn>
                <p:tgtEl>
                  <p:spTgt spid="9"/>
                </p:tgtEl>
              </p:cMediaNode>
            </p:audio>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US" sz="3100"/>
              <a:t>Abstract</a:t>
            </a:r>
          </a:p>
        </p:txBody>
      </p:sp>
      <p:pic>
        <p:nvPicPr>
          <p:cNvPr id="14" name="Picture 13" descr="Pins pinned on a white surface and connecting a black thread">
            <a:extLst>
              <a:ext uri="{FF2B5EF4-FFF2-40B4-BE49-F238E27FC236}">
                <a16:creationId xmlns:a16="http://schemas.microsoft.com/office/drawing/2014/main" id="{B1E8709D-6A10-56AE-BB8A-2266582628A5}"/>
              </a:ext>
            </a:extLst>
          </p:cNvPr>
          <p:cNvPicPr>
            <a:picLocks noChangeAspect="1"/>
          </p:cNvPicPr>
          <p:nvPr/>
        </p:nvPicPr>
        <p:blipFill>
          <a:blip r:embed="rId6"/>
          <a:srcRect t="19603" b="19603"/>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p:cNvSpPr>
            <a:spLocks noGrp="1"/>
          </p:cNvSpPr>
          <p:nvPr>
            <p:ph idx="1"/>
          </p:nvPr>
        </p:nvSpPr>
        <p:spPr>
          <a:xfrm>
            <a:off x="3167986" y="3752850"/>
            <a:ext cx="5614060" cy="2452687"/>
          </a:xfrm>
        </p:spPr>
        <p:txBody>
          <a:bodyPr anchor="ctr">
            <a:normAutofit/>
          </a:bodyPr>
          <a:lstStyle/>
          <a:p>
            <a:pPr marL="0" indent="0">
              <a:buNone/>
            </a:pPr>
            <a:r>
              <a:rPr lang="en-US" sz="1500" dirty="0"/>
              <a:t>This project focuses on building a Convolutional Neural Network (CNN) using the TensorFlow/</a:t>
            </a:r>
            <a:r>
              <a:rPr lang="en-US" sz="1500" dirty="0" err="1"/>
              <a:t>Keras</a:t>
            </a:r>
            <a:r>
              <a:rPr lang="en-US" sz="1500" dirty="0"/>
              <a:t> framework to classify images from the CIFAR-10 dataset into ten distinct categories. The model was trained on 50,000 labeled images and evaluated on a separate set of 10,000 test images. Performance assessment was carried out using key metrics such as accuracy scores, training and validation loss curves, and a confusion matrix to visualize class-wise predictions. The final model achieved an accuracy of approximately 72%, underscoring the effectiveness of CNNs in recognizing patterns and generalizing well, even with low-resolution inputs.</a:t>
            </a:r>
          </a:p>
        </p:txBody>
      </p:sp>
      <p:pic>
        <p:nvPicPr>
          <p:cNvPr id="4" name="Recorded Sound">
            <a:hlinkClick r:id="" action="ppaction://media"/>
            <a:extLst>
              <a:ext uri="{FF2B5EF4-FFF2-40B4-BE49-F238E27FC236}">
                <a16:creationId xmlns:a16="http://schemas.microsoft.com/office/drawing/2014/main" id="{3F2A8C55-E4DF-CFEE-E75D-45BEF6159B2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7" name="AUDIO-2025-04-29-21-07-33">
            <a:hlinkClick r:id="" action="ppaction://media"/>
            <a:extLst>
              <a:ext uri="{FF2B5EF4-FFF2-40B4-BE49-F238E27FC236}">
                <a16:creationId xmlns:a16="http://schemas.microsoft.com/office/drawing/2014/main" id="{23AB4AEB-E4E2-8A9F-08F4-C236E433A7EA}"/>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828" fill="hold"/>
                                        <p:tgtEl>
                                          <p:spTgt spid="4"/>
                                        </p:tgtEl>
                                      </p:cBhvr>
                                    </p:cmd>
                                  </p:childTnLst>
                                </p:cTn>
                              </p:par>
                            </p:childTnLst>
                          </p:cTn>
                        </p:par>
                        <p:par>
                          <p:cTn id="7" fill="hold">
                            <p:stCondLst>
                              <p:cond delay="30828"/>
                            </p:stCondLst>
                            <p:childTnLst>
                              <p:par>
                                <p:cTn id="8" presetID="1" presetClass="mediacall" presetSubtype="0" fill="hold" nodeType="afterEffect">
                                  <p:stCondLst>
                                    <p:cond delay="0"/>
                                  </p:stCondLst>
                                  <p:childTnLst>
                                    <p:cmd type="call" cmd="playFrom(0.0)">
                                      <p:cBhvr>
                                        <p:cTn id="9" dur="2267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4"/>
                </p:tgtEl>
              </p:cMediaNode>
            </p:audio>
            <p:audio>
              <p:cMediaNode vol="80000">
                <p:cTn id="11"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US" sz="3100"/>
              <a:t>Introduction</a:t>
            </a:r>
          </a:p>
        </p:txBody>
      </p:sp>
      <p:pic>
        <p:nvPicPr>
          <p:cNvPr id="5" name="Picture 4">
            <a:extLst>
              <a:ext uri="{FF2B5EF4-FFF2-40B4-BE49-F238E27FC236}">
                <a16:creationId xmlns:a16="http://schemas.microsoft.com/office/drawing/2014/main" id="{F7D1BE99-B509-0C08-D1FB-9FE014468ADD}"/>
              </a:ext>
            </a:extLst>
          </p:cNvPr>
          <p:cNvPicPr>
            <a:picLocks noChangeAspect="1"/>
          </p:cNvPicPr>
          <p:nvPr/>
        </p:nvPicPr>
        <p:blipFill>
          <a:blip r:embed="rId6"/>
          <a:srcRect t="32941" b="9703"/>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p:cNvSpPr>
            <a:spLocks noGrp="1"/>
          </p:cNvSpPr>
          <p:nvPr>
            <p:ph idx="1"/>
          </p:nvPr>
        </p:nvSpPr>
        <p:spPr>
          <a:xfrm>
            <a:off x="3167986" y="3752850"/>
            <a:ext cx="5614060" cy="2452687"/>
          </a:xfrm>
        </p:spPr>
        <p:txBody>
          <a:bodyPr anchor="ctr">
            <a:normAutofit/>
          </a:bodyPr>
          <a:lstStyle/>
          <a:p>
            <a:pPr marL="0" indent="0">
              <a:lnSpc>
                <a:spcPct val="90000"/>
              </a:lnSpc>
              <a:buNone/>
            </a:pPr>
            <a:r>
              <a:rPr lang="en-US" sz="1000"/>
              <a:t>Image classification is a foundational task in computer vision where algorithms assign categories or labels to input images based on their visual characteristics. It underpins a wide range of real-world applications, including facial recognition systems, autonomous driving technologies, object detection in surveillance, and diagnostic tools in medical imaging. Historically, traditional machine learning approaches to image classification required extensive manual feature extraction, which often failed to generalize across the diverse and complex patterns found in natural images. The emergence of deep learning, particularly Convolutional Neural Networks (CNNs), has revolutionized this domain by enabling automatic, hierarchical feature learning directly from raw pixel data. CNNs use layers of convolutions, pooling, and non-linear activations to capture both low-level features like edges and high-level representations like object shapes, greatly improving classification performance. This project focuses on designing, training, and evaluating a CNN model to classify images from the CIFAR-10 dataset, a standard benchmark containing 60,000 color images across 10 classes such as airplanes, birds, and animals. Given the small size of these images (32x32 pixels), this task presents unique challenges for feature learning. The goal is not only to build a highly accurate classifier but also to showcase CNNs’ capability to recognize intricate patterns in low-resolution images, thereby establishing a strong foundation for more advanced architectures, data augmentation strategies, and transfer learning applications in future work.</a:t>
            </a:r>
          </a:p>
        </p:txBody>
      </p:sp>
      <p:pic>
        <p:nvPicPr>
          <p:cNvPr id="4" name="Recorded Sound">
            <a:hlinkClick r:id="" action="ppaction://media"/>
            <a:extLst>
              <a:ext uri="{FF2B5EF4-FFF2-40B4-BE49-F238E27FC236}">
                <a16:creationId xmlns:a16="http://schemas.microsoft.com/office/drawing/2014/main" id="{49DA4009-12A0-A02C-F4F7-211EA4BA028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8" name="AUDIO-2025-04-29-21-08-14">
            <a:hlinkClick r:id="" action="ppaction://media"/>
            <a:extLst>
              <a:ext uri="{FF2B5EF4-FFF2-40B4-BE49-F238E27FC236}">
                <a16:creationId xmlns:a16="http://schemas.microsoft.com/office/drawing/2014/main" id="{D2679326-667D-6C4D-E215-0B382CD5DA18}"/>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556" fill="hold"/>
                                        <p:tgtEl>
                                          <p:spTgt spid="4"/>
                                        </p:tgtEl>
                                      </p:cBhvr>
                                    </p:cmd>
                                  </p:childTnLst>
                                </p:cTn>
                              </p:par>
                            </p:childTnLst>
                          </p:cTn>
                        </p:par>
                        <p:par>
                          <p:cTn id="7" fill="hold">
                            <p:stCondLst>
                              <p:cond delay="26556"/>
                            </p:stCondLst>
                            <p:childTnLst>
                              <p:par>
                                <p:cTn id="8" presetID="1" presetClass="mediacall" presetSubtype="0" fill="hold" nodeType="afterEffect">
                                  <p:stCondLst>
                                    <p:cond delay="0"/>
                                  </p:stCondLst>
                                  <p:childTnLst>
                                    <p:cmd type="call" cmd="playFrom(0.0)">
                                      <p:cBhvr>
                                        <p:cTn id="9" dur="1905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4"/>
                </p:tgtEl>
              </p:cMediaNode>
            </p:audio>
            <p:audio>
              <p:cMediaNode vol="80000">
                <p:cTn id="11"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ight Triangle 4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5800"/>
              <a:t>Problem Statement</a:t>
            </a:r>
          </a:p>
        </p:txBody>
      </p:sp>
      <p:sp>
        <p:nvSpPr>
          <p:cNvPr id="3" name="Content Placeholder 2"/>
          <p:cNvSpPr>
            <a:spLocks noGrp="1"/>
          </p:cNvSpPr>
          <p:nvPr>
            <p:ph idx="1"/>
          </p:nvPr>
        </p:nvSpPr>
        <p:spPr>
          <a:xfrm>
            <a:off x="963930" y="2969469"/>
            <a:ext cx="6056111" cy="2800395"/>
          </a:xfrm>
        </p:spPr>
        <p:txBody>
          <a:bodyPr anchor="t">
            <a:normAutofit/>
          </a:bodyPr>
          <a:lstStyle/>
          <a:p>
            <a:pPr marL="0" indent="0">
              <a:lnSpc>
                <a:spcPct val="90000"/>
              </a:lnSpc>
              <a:buNone/>
            </a:pPr>
            <a:r>
              <a:rPr lang="en-US" sz="1300"/>
              <a:t>Image classification involves assigning a label to an image based on its visual content and is a foundational task in computer vision. Traditional machine learning methods relied on manual feature engineering, which limited scalability and struggled with real-world image variability. The rise of deep learning, especially Convolutional Neural Networks (CNNs), has revolutionized this field by enabling automatic learning of hierarchical features directly from raw pixels. This project aims to design, train, and evaluate a CNN model for classifying images from the CIFAR-10 dataset—a benchmark containing 60,000 color images across ten categories such as airplanes, cats, and ships. Objectives include building a suitable CNN architecture using TensorFlow/Keras, assessing performance through accuracy metrics and confusion matrices, and identifying misclassifications. The project also explores improvements like data augmentation and transfer learning to enhance generalization and lays the groundwork for future applications on more complex datasets.</a:t>
            </a:r>
          </a:p>
        </p:txBody>
      </p:sp>
      <p:pic>
        <p:nvPicPr>
          <p:cNvPr id="4" name="Recorded Sound">
            <a:hlinkClick r:id="" action="ppaction://media"/>
            <a:extLst>
              <a:ext uri="{FF2B5EF4-FFF2-40B4-BE49-F238E27FC236}">
                <a16:creationId xmlns:a16="http://schemas.microsoft.com/office/drawing/2014/main" id="{A15684CF-BFBC-4D44-F47F-D1B8FB26CF6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327525" y="3184525"/>
            <a:ext cx="487363" cy="487363"/>
          </a:xfrm>
          <a:prstGeom prst="rect">
            <a:avLst/>
          </a:prstGeom>
        </p:spPr>
      </p:pic>
      <p:pic>
        <p:nvPicPr>
          <p:cNvPr id="10" name="AUDIO-2025-04-29-21-08-50">
            <a:hlinkClick r:id="" action="ppaction://media"/>
            <a:extLst>
              <a:ext uri="{FF2B5EF4-FFF2-40B4-BE49-F238E27FC236}">
                <a16:creationId xmlns:a16="http://schemas.microsoft.com/office/drawing/2014/main" id="{3794B2FA-2021-4D9A-8440-9513A6F1C200}"/>
              </a:ext>
            </a:extLst>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239" fill="hold"/>
                                        <p:tgtEl>
                                          <p:spTgt spid="4"/>
                                        </p:tgtEl>
                                      </p:cBhvr>
                                    </p:cmd>
                                  </p:childTnLst>
                                </p:cTn>
                              </p:par>
                            </p:childTnLst>
                          </p:cTn>
                        </p:par>
                        <p:par>
                          <p:cTn id="7" fill="hold">
                            <p:stCondLst>
                              <p:cond delay="24239"/>
                            </p:stCondLst>
                            <p:childTnLst>
                              <p:par>
                                <p:cTn id="8" presetID="1" presetClass="mediacall" presetSubtype="0" fill="hold" nodeType="afterEffect">
                                  <p:stCondLst>
                                    <p:cond delay="0"/>
                                  </p:stCondLst>
                                  <p:childTnLst>
                                    <p:cmd type="call" cmd="playFrom(0.0)">
                                      <p:cBhvr>
                                        <p:cTn id="9" dur="2103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4"/>
                </p:tgtEl>
              </p:cMediaNode>
            </p:audio>
            <p:audio>
              <p:cMediaNode vol="80000">
                <p:cTn id="11"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network formed by white dots">
            <a:extLst>
              <a:ext uri="{FF2B5EF4-FFF2-40B4-BE49-F238E27FC236}">
                <a16:creationId xmlns:a16="http://schemas.microsoft.com/office/drawing/2014/main" id="{3321F51D-6D18-EF22-86F3-FAC6246ED7C7}"/>
              </a:ext>
            </a:extLst>
          </p:cNvPr>
          <p:cNvPicPr>
            <a:picLocks noChangeAspect="1"/>
          </p:cNvPicPr>
          <p:nvPr/>
        </p:nvPicPr>
        <p:blipFill>
          <a:blip r:embed="rId6"/>
          <a:srcRect l="45570" r="3155" b="-1"/>
          <a:stretch/>
        </p:blipFill>
        <p:spPr>
          <a:xfrm>
            <a:off x="4577270" y="10"/>
            <a:ext cx="4566728" cy="6857990"/>
          </a:xfrm>
          <a:prstGeom prst="rect">
            <a:avLst/>
          </a:prstGeom>
        </p:spPr>
      </p:pic>
      <p:sp useBgFill="1">
        <p:nvSpPr>
          <p:cNvPr id="28" name="Rectangle 27">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328512"/>
            <a:ext cx="3583791" cy="1628970"/>
          </a:xfrm>
        </p:spPr>
        <p:txBody>
          <a:bodyPr anchor="ctr">
            <a:normAutofit/>
          </a:bodyPr>
          <a:lstStyle/>
          <a:p>
            <a:r>
              <a:rPr lang="en-US" sz="3500"/>
              <a:t>Literature Review</a:t>
            </a:r>
          </a:p>
        </p:txBody>
      </p:sp>
      <p:sp>
        <p:nvSpPr>
          <p:cNvPr id="3" name="Content Placeholder 2"/>
          <p:cNvSpPr>
            <a:spLocks noGrp="1"/>
          </p:cNvSpPr>
          <p:nvPr>
            <p:ph idx="1"/>
          </p:nvPr>
        </p:nvSpPr>
        <p:spPr>
          <a:xfrm>
            <a:off x="571350" y="2884929"/>
            <a:ext cx="3494817" cy="3374137"/>
          </a:xfrm>
        </p:spPr>
        <p:txBody>
          <a:bodyPr anchor="ctr">
            <a:normAutofit/>
          </a:bodyPr>
          <a:lstStyle/>
          <a:p>
            <a:pPr marL="0" indent="0">
              <a:lnSpc>
                <a:spcPct val="90000"/>
              </a:lnSpc>
              <a:buNone/>
            </a:pPr>
            <a:r>
              <a:rPr lang="en-US" sz="900"/>
              <a:t>The field of computer vision has been significantly advanced by deep learning, particularly through the use of Convolutional Neural Networks (CNNs), which have become the standard model for image-based tasks. Early CNN architectures like LeNet-5 laid the groundwork for this approach, while AlexNet revolutionized the field by demonstrating the potential of deep CNNs in large-scale image classification. CNNs function through a hierarchy of layers—convolutional, pooling, and fully connected—which enables them to learn both low-level and high-level features from image data. Later advancements such as Residual Networks (ResNet) addressed the vanishing gradient problem in deep networks by introducing skip connections, allowing for the training of significantly deeper models. More recently, Vision Transformers (ViTs) have emerged as a competitive alternative to CNNs by modeling images as sequences of patches and applying attention mechanisms to capture global context. To enhance model performance, especially on smaller datasets like CIFAR-10, transfer learning and data augmentation have proven highly effective. However, several challenges remain in the field. Overfitting is a common issue with small datasets, and deep models are often vulnerable to adversarial inputs—subtle perturbations that lead to incorrect predictions. Additionally, training deep networks can be computationally expensive, requiring significant resources. These considerations highlight the ongoing need for robust, scalable, and interpretable deep learning solutions in computer vision.</a:t>
            </a:r>
          </a:p>
        </p:txBody>
      </p:sp>
      <p:pic>
        <p:nvPicPr>
          <p:cNvPr id="4" name="Recorded Sound">
            <a:hlinkClick r:id="" action="ppaction://media"/>
            <a:extLst>
              <a:ext uri="{FF2B5EF4-FFF2-40B4-BE49-F238E27FC236}">
                <a16:creationId xmlns:a16="http://schemas.microsoft.com/office/drawing/2014/main" id="{ADEAA4AE-71B3-2B1F-8BC1-47B9AD2A8E3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6" name="AUDIO-2025-04-29-21-09-26">
            <a:hlinkClick r:id="" action="ppaction://media"/>
            <a:extLst>
              <a:ext uri="{FF2B5EF4-FFF2-40B4-BE49-F238E27FC236}">
                <a16:creationId xmlns:a16="http://schemas.microsoft.com/office/drawing/2014/main" id="{8E9E6B77-A298-1A92-948D-6FAE037E2917}"/>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210" fill="hold"/>
                                        <p:tgtEl>
                                          <p:spTgt spid="4"/>
                                        </p:tgtEl>
                                      </p:cBhvr>
                                    </p:cmd>
                                  </p:childTnLst>
                                </p:cTn>
                              </p:par>
                            </p:childTnLst>
                          </p:cTn>
                        </p:par>
                        <p:par>
                          <p:cTn id="7" fill="hold">
                            <p:stCondLst>
                              <p:cond delay="24210"/>
                            </p:stCondLst>
                            <p:childTnLst>
                              <p:par>
                                <p:cTn id="8" presetID="1" presetClass="mediacall" presetSubtype="0" fill="hold" nodeType="afterEffect">
                                  <p:stCondLst>
                                    <p:cond delay="0"/>
                                  </p:stCondLst>
                                  <p:childTnLst>
                                    <p:cmd type="call" cmd="playFrom(0.0)">
                                      <p:cBhvr>
                                        <p:cTn id="9" dur="2293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4"/>
                </p:tgtEl>
              </p:cMediaNode>
            </p:audio>
            <p:audio>
              <p:cMediaNode vol="80000">
                <p:cTn id="11"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r>
              <a:rPr lang="en-US"/>
              <a:t>Industry Applications</a:t>
            </a:r>
          </a:p>
        </p:txBody>
      </p:sp>
      <p:sp>
        <p:nvSpPr>
          <p:cNvPr id="3" name="Content Placeholder 2"/>
          <p:cNvSpPr>
            <a:spLocks noGrp="1"/>
          </p:cNvSpPr>
          <p:nvPr>
            <p:ph idx="1"/>
          </p:nvPr>
        </p:nvSpPr>
        <p:spPr>
          <a:xfrm>
            <a:off x="852775" y="2198362"/>
            <a:ext cx="3719225" cy="3917773"/>
          </a:xfrm>
        </p:spPr>
        <p:txBody>
          <a:bodyPr>
            <a:normAutofit/>
          </a:bodyPr>
          <a:lstStyle/>
          <a:p>
            <a:pPr marL="0" indent="0">
              <a:lnSpc>
                <a:spcPct val="90000"/>
              </a:lnSpc>
              <a:buNone/>
            </a:pPr>
            <a:r>
              <a:rPr lang="en-US" sz="1300"/>
              <a:t>Convolutional Neural Networks (CNNs) have been widely adopted across industries due to their effectiveness in visual recognition tasks. In </a:t>
            </a:r>
            <a:r>
              <a:rPr lang="en-US" sz="1300" b="1"/>
              <a:t>healthcare</a:t>
            </a:r>
            <a:r>
              <a:rPr lang="en-US" sz="1300"/>
              <a:t>, they enable automated diagnosis from medical imaging. In </a:t>
            </a:r>
            <a:r>
              <a:rPr lang="en-US" sz="1300" b="1"/>
              <a:t>transportation</a:t>
            </a:r>
            <a:r>
              <a:rPr lang="en-US" sz="1300"/>
              <a:t>, CNNs support object detection in self-driving cars. </a:t>
            </a:r>
            <a:r>
              <a:rPr lang="en-US" sz="1300" b="1"/>
              <a:t>Security</a:t>
            </a:r>
            <a:r>
              <a:rPr lang="en-US" sz="1300"/>
              <a:t> systems use them for facial recognition, while </a:t>
            </a:r>
            <a:r>
              <a:rPr lang="en-US" sz="1300" b="1"/>
              <a:t>retail</a:t>
            </a:r>
            <a:r>
              <a:rPr lang="en-US" sz="1300"/>
              <a:t> leverages them for product identification and inventory control. In </a:t>
            </a:r>
            <a:r>
              <a:rPr lang="en-US" sz="1300" b="1"/>
              <a:t>agriculture</a:t>
            </a:r>
            <a:r>
              <a:rPr lang="en-US" sz="1300"/>
              <a:t>, they help classify crops and pests using aerial imagery. However, CNNs require large annotated datasets, are vulnerable to adversarial attacks, and lack interpretability. Future developments aim to address these issues through </a:t>
            </a:r>
            <a:r>
              <a:rPr lang="en-US" sz="1300" b="1"/>
              <a:t>self-supervised learning</a:t>
            </a:r>
            <a:r>
              <a:rPr lang="en-US" sz="1300"/>
              <a:t>, </a:t>
            </a:r>
            <a:r>
              <a:rPr lang="en-US" sz="1300" b="1"/>
              <a:t>robust training methods</a:t>
            </a:r>
            <a:r>
              <a:rPr lang="en-US" sz="1300"/>
              <a:t>, and </a:t>
            </a:r>
            <a:r>
              <a:rPr lang="en-US" sz="1300" b="1"/>
              <a:t>explainable AI (XAI)</a:t>
            </a:r>
            <a:r>
              <a:rPr lang="en-US" sz="1300"/>
              <a:t>. These advancements will lead to more </a:t>
            </a:r>
            <a:r>
              <a:rPr lang="en-US" sz="1300" b="1"/>
              <a:t>efficient</a:t>
            </a:r>
            <a:r>
              <a:rPr lang="en-US" sz="1300"/>
              <a:t>, </a:t>
            </a:r>
            <a:r>
              <a:rPr lang="en-US" sz="1300" b="1"/>
              <a:t>secure</a:t>
            </a:r>
            <a:r>
              <a:rPr lang="en-US" sz="1300"/>
              <a:t>, and </a:t>
            </a:r>
            <a:r>
              <a:rPr lang="en-US" sz="1300" b="1"/>
              <a:t>transparent</a:t>
            </a:r>
            <a:r>
              <a:rPr lang="en-US" sz="1300"/>
              <a:t> deep learning models for real-world deployment.</a:t>
            </a:r>
            <a:br>
              <a:rPr lang="en-US" sz="1300"/>
            </a:br>
            <a:endParaRPr lang="en-US" sz="1300"/>
          </a:p>
        </p:txBody>
      </p:sp>
      <p:sp>
        <p:nvSpPr>
          <p:cNvPr id="30" name="Freeform: Shape 2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7154B0C6-DAC9-6512-0510-1C3D64697807}"/>
              </a:ext>
            </a:extLst>
          </p:cNvPr>
          <p:cNvGraphicFramePr>
            <a:graphicFrameLocks noGrp="1"/>
          </p:cNvGraphicFramePr>
          <p:nvPr>
            <p:extLst>
              <p:ext uri="{D42A27DB-BD31-4B8C-83A1-F6EECF244321}">
                <p14:modId xmlns:p14="http://schemas.microsoft.com/office/powerpoint/2010/main" val="1867290926"/>
              </p:ext>
            </p:extLst>
          </p:nvPr>
        </p:nvGraphicFramePr>
        <p:xfrm>
          <a:off x="5039525" y="2444744"/>
          <a:ext cx="3591380" cy="3236257"/>
        </p:xfrm>
        <a:graphic>
          <a:graphicData uri="http://schemas.openxmlformats.org/drawingml/2006/table">
            <a:tbl>
              <a:tblPr firstRow="1" firstCol="1" bandRow="1">
                <a:tableStyleId>{5C22544A-7EE6-4342-B048-85BDC9FD1C3A}</a:tableStyleId>
              </a:tblPr>
              <a:tblGrid>
                <a:gridCol w="1135543">
                  <a:extLst>
                    <a:ext uri="{9D8B030D-6E8A-4147-A177-3AD203B41FA5}">
                      <a16:colId xmlns:a16="http://schemas.microsoft.com/office/drawing/2014/main" val="3038526522"/>
                    </a:ext>
                  </a:extLst>
                </a:gridCol>
                <a:gridCol w="2455837">
                  <a:extLst>
                    <a:ext uri="{9D8B030D-6E8A-4147-A177-3AD203B41FA5}">
                      <a16:colId xmlns:a16="http://schemas.microsoft.com/office/drawing/2014/main" val="152252200"/>
                    </a:ext>
                  </a:extLst>
                </a:gridCol>
              </a:tblGrid>
              <a:tr h="291495">
                <a:tc>
                  <a:txBody>
                    <a:bodyPr/>
                    <a:lstStyle/>
                    <a:p>
                      <a:pPr marL="0" marR="0">
                        <a:lnSpc>
                          <a:spcPct val="130000"/>
                        </a:lnSpc>
                        <a:spcAft>
                          <a:spcPts val="800"/>
                        </a:spcAft>
                        <a:buNone/>
                      </a:pPr>
                      <a:r>
                        <a:rPr lang="en-US" sz="1300">
                          <a:effectLst/>
                        </a:rPr>
                        <a:t>Industry</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Application</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3284098226"/>
                  </a:ext>
                </a:extLst>
              </a:tr>
              <a:tr h="787258">
                <a:tc>
                  <a:txBody>
                    <a:bodyPr/>
                    <a:lstStyle/>
                    <a:p>
                      <a:pPr marL="0" marR="0">
                        <a:lnSpc>
                          <a:spcPct val="130000"/>
                        </a:lnSpc>
                        <a:spcAft>
                          <a:spcPts val="800"/>
                        </a:spcAft>
                        <a:buNone/>
                      </a:pPr>
                      <a:r>
                        <a:rPr lang="en-US" sz="1300">
                          <a:effectLst/>
                        </a:rPr>
                        <a:t>Healthcare</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Automated diagnosis using medical imaging (e.g., MRI scan classification)</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2065091770"/>
                  </a:ext>
                </a:extLst>
              </a:tr>
              <a:tr h="539376">
                <a:tc>
                  <a:txBody>
                    <a:bodyPr/>
                    <a:lstStyle/>
                    <a:p>
                      <a:pPr marL="0" marR="0">
                        <a:lnSpc>
                          <a:spcPct val="130000"/>
                        </a:lnSpc>
                        <a:spcAft>
                          <a:spcPts val="800"/>
                        </a:spcAft>
                        <a:buNone/>
                      </a:pPr>
                      <a:r>
                        <a:rPr lang="en-US" sz="1300">
                          <a:effectLst/>
                        </a:rPr>
                        <a:t>Transportation</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Object detection and lane recognition in self-driving cars</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3791295725"/>
                  </a:ext>
                </a:extLst>
              </a:tr>
              <a:tr h="539376">
                <a:tc>
                  <a:txBody>
                    <a:bodyPr/>
                    <a:lstStyle/>
                    <a:p>
                      <a:pPr marL="0" marR="0">
                        <a:lnSpc>
                          <a:spcPct val="130000"/>
                        </a:lnSpc>
                        <a:spcAft>
                          <a:spcPts val="800"/>
                        </a:spcAft>
                        <a:buNone/>
                      </a:pPr>
                      <a:r>
                        <a:rPr lang="en-US" sz="1300">
                          <a:effectLst/>
                        </a:rPr>
                        <a:t>Security</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Facial recognition and surveillance systems</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4134551552"/>
                  </a:ext>
                </a:extLst>
              </a:tr>
              <a:tr h="539376">
                <a:tc>
                  <a:txBody>
                    <a:bodyPr/>
                    <a:lstStyle/>
                    <a:p>
                      <a:pPr marL="0" marR="0">
                        <a:lnSpc>
                          <a:spcPct val="130000"/>
                        </a:lnSpc>
                        <a:spcAft>
                          <a:spcPts val="800"/>
                        </a:spcAft>
                        <a:buNone/>
                      </a:pPr>
                      <a:r>
                        <a:rPr lang="en-US" sz="1300">
                          <a:effectLst/>
                        </a:rPr>
                        <a:t>Retail</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Automated product recognition and inventory management</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2555118560"/>
                  </a:ext>
                </a:extLst>
              </a:tr>
              <a:tr h="539376">
                <a:tc>
                  <a:txBody>
                    <a:bodyPr/>
                    <a:lstStyle/>
                    <a:p>
                      <a:pPr marL="0" marR="0">
                        <a:lnSpc>
                          <a:spcPct val="130000"/>
                        </a:lnSpc>
                        <a:spcAft>
                          <a:spcPts val="800"/>
                        </a:spcAft>
                        <a:buNone/>
                      </a:pPr>
                      <a:r>
                        <a:rPr lang="en-US" sz="1300">
                          <a:effectLst/>
                        </a:rPr>
                        <a:t>Agriculture</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tc>
                  <a:txBody>
                    <a:bodyPr/>
                    <a:lstStyle/>
                    <a:p>
                      <a:pPr marL="0" marR="0">
                        <a:lnSpc>
                          <a:spcPct val="130000"/>
                        </a:lnSpc>
                        <a:spcAft>
                          <a:spcPts val="800"/>
                        </a:spcAft>
                        <a:buNone/>
                      </a:pPr>
                      <a:r>
                        <a:rPr lang="en-US" sz="1300">
                          <a:effectLst/>
                        </a:rPr>
                        <a:t>Crop and pest classification through aerial imagery</a:t>
                      </a:r>
                      <a:endParaRPr lang="en-US"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11622" marR="11622" marT="11622" marB="11622" anchor="ctr"/>
                </a:tc>
                <a:extLst>
                  <a:ext uri="{0D108BD9-81ED-4DB2-BD59-A6C34878D82A}">
                    <a16:rowId xmlns:a16="http://schemas.microsoft.com/office/drawing/2014/main" val="4100262593"/>
                  </a:ext>
                </a:extLst>
              </a:tr>
            </a:tbl>
          </a:graphicData>
        </a:graphic>
      </p:graphicFrame>
      <p:pic>
        <p:nvPicPr>
          <p:cNvPr id="5" name="Recorded Sound">
            <a:hlinkClick r:id="" action="ppaction://media"/>
            <a:extLst>
              <a:ext uri="{FF2B5EF4-FFF2-40B4-BE49-F238E27FC236}">
                <a16:creationId xmlns:a16="http://schemas.microsoft.com/office/drawing/2014/main" id="{9A118DD2-A7ED-D2B9-1848-141C88AEA484}"/>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4327525" y="3184525"/>
            <a:ext cx="487363" cy="487363"/>
          </a:xfrm>
          <a:prstGeom prst="rect">
            <a:avLst/>
          </a:prstGeom>
        </p:spPr>
      </p:pic>
      <p:pic>
        <p:nvPicPr>
          <p:cNvPr id="8" name="AUDIO-2025-04-29-21-08-14">
            <a:hlinkClick r:id="" action="ppaction://media"/>
            <a:extLst>
              <a:ext uri="{FF2B5EF4-FFF2-40B4-BE49-F238E27FC236}">
                <a16:creationId xmlns:a16="http://schemas.microsoft.com/office/drawing/2014/main" id="{D14FC3C6-F2CA-CED1-B815-9A270669AEB1}"/>
              </a:ext>
            </a:extLst>
          </p:cNvPr>
          <p:cNvPicPr>
            <a:picLocks noChangeAspect="1"/>
          </p:cNvPicPr>
          <p:nvPr>
            <a:audioFile r:link="rId4"/>
            <p:extLst>
              <p:ext uri="{DAA4B4D4-6D71-4841-9C94-3DE7FCFB9230}">
                <p14:media xmlns:p14="http://schemas.microsoft.com/office/powerpoint/2010/main" r:embed="rId3"/>
              </p:ext>
            </p:extLst>
          </p:nvPr>
        </p:nvPicPr>
        <p:blipFill>
          <a:blip r:embed="rId10"/>
          <a:stretch>
            <a:fillRect/>
          </a:stretch>
        </p:blipFill>
        <p:spPr>
          <a:xfrm>
            <a:off x="4327525" y="3184525"/>
            <a:ext cx="487363" cy="487363"/>
          </a:xfrm>
          <a:prstGeom prst="rect">
            <a:avLst/>
          </a:prstGeom>
        </p:spPr>
      </p:pic>
      <p:pic>
        <p:nvPicPr>
          <p:cNvPr id="9" name="AUDIO-2025-04-29-21-11-59">
            <a:hlinkClick r:id="" action="ppaction://media"/>
            <a:extLst>
              <a:ext uri="{FF2B5EF4-FFF2-40B4-BE49-F238E27FC236}">
                <a16:creationId xmlns:a16="http://schemas.microsoft.com/office/drawing/2014/main" id="{D53C06BB-F072-EA29-FF71-F598DE2F5AA0}"/>
              </a:ext>
            </a:extLst>
          </p:cNvPr>
          <p:cNvPicPr>
            <a:picLocks noChangeAspect="1"/>
          </p:cNvPicPr>
          <p:nvPr>
            <a:audioFile r:link="rId6"/>
            <p:extLst>
              <p:ext uri="{DAA4B4D4-6D71-4841-9C94-3DE7FCFB9230}">
                <p14:media xmlns:p14="http://schemas.microsoft.com/office/powerpoint/2010/main" r:embed="rId5"/>
              </p:ext>
            </p:extLst>
          </p:nvPr>
        </p:nvPicPr>
        <p:blipFill>
          <a:blip r:embed="rId10"/>
          <a:stretch>
            <a:fillRect/>
          </a:stretch>
        </p:blipFill>
        <p:spPr>
          <a:xfrm>
            <a:off x="4327525" y="3184525"/>
            <a:ext cx="487363" cy="487363"/>
          </a:xfrm>
          <a:prstGeom prst="rect">
            <a:avLst/>
          </a:prstGeom>
        </p:spPr>
      </p:pic>
      <p:pic>
        <p:nvPicPr>
          <p:cNvPr id="10" name="AUDIO-2025-04-29-21-09-53">
            <a:hlinkClick r:id="" action="ppaction://media"/>
            <a:extLst>
              <a:ext uri="{FF2B5EF4-FFF2-40B4-BE49-F238E27FC236}">
                <a16:creationId xmlns:a16="http://schemas.microsoft.com/office/drawing/2014/main" id="{BC019235-278B-AAA2-ECFF-A1ADC40F3768}"/>
              </a:ext>
            </a:extLst>
          </p:cNvPr>
          <p:cNvPicPr>
            <a:picLocks noChangeAspect="1"/>
          </p:cNvPicPr>
          <p:nvPr>
            <a:audioFile r:link="rId8"/>
            <p:extLst>
              <p:ext uri="{DAA4B4D4-6D71-4841-9C94-3DE7FCFB9230}">
                <p14:media xmlns:p14="http://schemas.microsoft.com/office/powerpoint/2010/main" r:embed="rId7"/>
              </p:ext>
            </p:extLst>
          </p:nvPr>
        </p:nvPicPr>
        <p:blipFill>
          <a:blip r:embed="rId10"/>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397"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9050" fill="hold"/>
                                        <p:tgtEl>
                                          <p:spTgt spid="8"/>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9648" fill="hold"/>
                                        <p:tgtEl>
                                          <p:spTgt spid="9"/>
                                        </p:tgtEl>
                                      </p:cBhvr>
                                    </p:cmd>
                                  </p:childTnLst>
                                </p:cTn>
                              </p:par>
                            </p:childTnLst>
                          </p:cTn>
                        </p:par>
                        <p:par>
                          <p:cTn id="15" fill="hold">
                            <p:stCondLst>
                              <p:cond delay="19648"/>
                            </p:stCondLst>
                            <p:childTnLst>
                              <p:par>
                                <p:cTn id="16" presetID="1" presetClass="mediacall" presetSubtype="0" fill="hold" nodeType="afterEffect">
                                  <p:stCondLst>
                                    <p:cond delay="0"/>
                                  </p:stCondLst>
                                  <p:childTnLst>
                                    <p:cmd type="call" cmd="playFrom(0.0)">
                                      <p:cBhvr>
                                        <p:cTn id="17" dur="1905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8" fill="hold" display="0">
                  <p:stCondLst>
                    <p:cond delay="indefinite"/>
                  </p:stCondLst>
                  <p:endCondLst>
                    <p:cond evt="onStopAudio" delay="0">
                      <p:tgtEl>
                        <p:sldTgt/>
                      </p:tgtEl>
                    </p:cond>
                  </p:endCondLst>
                </p:cTn>
                <p:tgtEl>
                  <p:spTgt spid="5"/>
                </p:tgtEl>
              </p:cMediaNode>
            </p:audio>
            <p:audio>
              <p:cMediaNode vol="80000">
                <p:cTn id="19" fill="hold" display="0">
                  <p:stCondLst>
                    <p:cond delay="indefinite"/>
                  </p:stCondLst>
                  <p:endCondLst>
                    <p:cond evt="onStopAudio" delay="0">
                      <p:tgtEl>
                        <p:sldTgt/>
                      </p:tgtEl>
                    </p:cond>
                  </p:endCondLst>
                </p:cTn>
                <p:tgtEl>
                  <p:spTgt spid="8"/>
                </p:tgtEl>
              </p:cMediaNode>
            </p:audio>
            <p:audio>
              <p:cMediaNode vol="80000">
                <p:cTn id="20" fill="hold" display="0">
                  <p:stCondLst>
                    <p:cond delay="indefinite"/>
                  </p:stCondLst>
                  <p:endCondLst>
                    <p:cond evt="onStopAudio" delay="0">
                      <p:tgtEl>
                        <p:sldTgt/>
                      </p:tgtEl>
                    </p:cond>
                  </p:endCondLst>
                </p:cTn>
                <p:tgtEl>
                  <p:spTgt spid="9"/>
                </p:tgtEl>
              </p:cMediaNode>
            </p:audio>
            <p:audio>
              <p:cMediaNode vol="80000">
                <p:cTn id="21" fill="hold" display="0">
                  <p:stCondLst>
                    <p:cond delay="indefinite"/>
                  </p:stCondLst>
                  <p:endCondLst>
                    <p:cond evt="onStopAudio" delay="0">
                      <p:tgtEl>
                        <p:sldTgt/>
                      </p:tgtEl>
                    </p:cond>
                  </p:endCondLst>
                </p:cTn>
                <p:tgtEl>
                  <p:spTgt spid="10"/>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&amp; Preprocessing</a:t>
            </a:r>
          </a:p>
        </p:txBody>
      </p:sp>
      <p:sp>
        <p:nvSpPr>
          <p:cNvPr id="3" name="Content Placeholder 2"/>
          <p:cNvSpPr>
            <a:spLocks noGrp="1"/>
          </p:cNvSpPr>
          <p:nvPr>
            <p:ph idx="1"/>
          </p:nvPr>
        </p:nvSpPr>
        <p:spPr>
          <a:xfrm>
            <a:off x="457200" y="1600200"/>
            <a:ext cx="8229600" cy="1143001"/>
          </a:xfrm>
        </p:spPr>
        <p:txBody>
          <a:bodyPr/>
          <a:lstStyle/>
          <a:p>
            <a:pPr marL="0" indent="0">
              <a:buNone/>
            </a:pPr>
            <a:r>
              <a:rPr lang="en-US" sz="1100" dirty="0"/>
              <a:t>This project uses the </a:t>
            </a:r>
            <a:r>
              <a:rPr lang="en-US" sz="1100" b="1" dirty="0"/>
              <a:t>CIFAR-10 dataset</a:t>
            </a:r>
            <a:r>
              <a:rPr lang="en-US" sz="1100" dirty="0"/>
              <a:t>, which includes 60,000 32x32 color images labeled across 10 object classes. It is split into </a:t>
            </a:r>
            <a:r>
              <a:rPr lang="en-US" sz="1100" b="1" dirty="0"/>
              <a:t>50,000 training</a:t>
            </a:r>
            <a:r>
              <a:rPr lang="en-US" sz="1100" dirty="0"/>
              <a:t> and </a:t>
            </a:r>
            <a:r>
              <a:rPr lang="en-US" sz="1100" b="1" dirty="0"/>
              <a:t>10,000 testing</a:t>
            </a:r>
            <a:r>
              <a:rPr lang="en-US" sz="1100" dirty="0"/>
              <a:t> samples. Images represent everyday categories like airplane, automobile, cat, dog, and ship. Before training, data was </a:t>
            </a:r>
            <a:r>
              <a:rPr lang="en-US" sz="1100" b="1" dirty="0"/>
              <a:t>normalized</a:t>
            </a:r>
            <a:r>
              <a:rPr lang="en-US" sz="1100" dirty="0"/>
              <a:t> (pixel values scaled from 0–255 to 0–1) to stabilize learning and improve convergence. </a:t>
            </a:r>
            <a:r>
              <a:rPr lang="en-US" sz="1100" b="1" dirty="0"/>
              <a:t>Labels were flattened</a:t>
            </a:r>
            <a:r>
              <a:rPr lang="en-US" sz="1100" dirty="0"/>
              <a:t> to match model input requirements. The CNN architecture consists of </a:t>
            </a:r>
            <a:r>
              <a:rPr lang="en-US" sz="1100" b="1" dirty="0"/>
              <a:t>three convolutional blocks</a:t>
            </a:r>
            <a:r>
              <a:rPr lang="en-US" sz="1100" dirty="0"/>
              <a:t> with </a:t>
            </a:r>
            <a:r>
              <a:rPr lang="en-US" sz="1100" dirty="0" err="1"/>
              <a:t>ReLU</a:t>
            </a:r>
            <a:r>
              <a:rPr lang="en-US" sz="1100" dirty="0"/>
              <a:t> activations and max pooling, followed by a </a:t>
            </a:r>
            <a:r>
              <a:rPr lang="en-US" sz="1100" b="1" dirty="0"/>
              <a:t>flattening layer</a:t>
            </a:r>
            <a:r>
              <a:rPr lang="en-US" sz="1100" dirty="0"/>
              <a:t> and </a:t>
            </a:r>
            <a:r>
              <a:rPr lang="en-US" sz="1100" b="1" dirty="0"/>
              <a:t>dense layers</a:t>
            </a:r>
            <a:r>
              <a:rPr lang="en-US" sz="1100" dirty="0"/>
              <a:t> for classification. The model was implemented using </a:t>
            </a:r>
            <a:r>
              <a:rPr lang="en-US" sz="1100" b="1" dirty="0"/>
              <a:t>TensorFlow/</a:t>
            </a:r>
            <a:r>
              <a:rPr lang="en-US" sz="1100" b="1" dirty="0" err="1"/>
              <a:t>Keras</a:t>
            </a:r>
            <a:r>
              <a:rPr lang="en-US" sz="1100" dirty="0"/>
              <a:t>, optimized for learning from small image inputs.</a:t>
            </a:r>
            <a:endParaRPr lang="en-US" sz="1800" dirty="0"/>
          </a:p>
        </p:txBody>
      </p:sp>
      <p:graphicFrame>
        <p:nvGraphicFramePr>
          <p:cNvPr id="4" name="Table 3">
            <a:extLst>
              <a:ext uri="{FF2B5EF4-FFF2-40B4-BE49-F238E27FC236}">
                <a16:creationId xmlns:a16="http://schemas.microsoft.com/office/drawing/2014/main" id="{6FA09B1C-9E07-F0A5-08D9-C29D5E25C415}"/>
              </a:ext>
            </a:extLst>
          </p:cNvPr>
          <p:cNvGraphicFramePr>
            <a:graphicFrameLocks noGrp="1"/>
          </p:cNvGraphicFramePr>
          <p:nvPr>
            <p:extLst>
              <p:ext uri="{D42A27DB-BD31-4B8C-83A1-F6EECF244321}">
                <p14:modId xmlns:p14="http://schemas.microsoft.com/office/powerpoint/2010/main" val="3282542804"/>
              </p:ext>
            </p:extLst>
          </p:nvPr>
        </p:nvGraphicFramePr>
        <p:xfrm>
          <a:off x="556075" y="2960953"/>
          <a:ext cx="3245458" cy="2307694"/>
        </p:xfrm>
        <a:graphic>
          <a:graphicData uri="http://schemas.openxmlformats.org/drawingml/2006/table">
            <a:tbl>
              <a:tblPr firstRow="1" firstCol="1" bandRow="1">
                <a:tableStyleId>{5C22544A-7EE6-4342-B048-85BDC9FD1C3A}</a:tableStyleId>
              </a:tblPr>
              <a:tblGrid>
                <a:gridCol w="1622729">
                  <a:extLst>
                    <a:ext uri="{9D8B030D-6E8A-4147-A177-3AD203B41FA5}">
                      <a16:colId xmlns:a16="http://schemas.microsoft.com/office/drawing/2014/main" val="1362204048"/>
                    </a:ext>
                  </a:extLst>
                </a:gridCol>
                <a:gridCol w="1622729">
                  <a:extLst>
                    <a:ext uri="{9D8B030D-6E8A-4147-A177-3AD203B41FA5}">
                      <a16:colId xmlns:a16="http://schemas.microsoft.com/office/drawing/2014/main" val="2414218258"/>
                    </a:ext>
                  </a:extLst>
                </a:gridCol>
              </a:tblGrid>
              <a:tr h="207680">
                <a:tc>
                  <a:txBody>
                    <a:bodyPr/>
                    <a:lstStyle/>
                    <a:p>
                      <a:pPr marL="0" marR="0" algn="ctr">
                        <a:lnSpc>
                          <a:spcPct val="130000"/>
                        </a:lnSpc>
                        <a:spcAft>
                          <a:spcPts val="800"/>
                        </a:spcAft>
                        <a:buNone/>
                      </a:pPr>
                      <a:r>
                        <a:rPr lang="en-US" sz="1000">
                          <a:effectLst/>
                        </a:rPr>
                        <a:t>Class Label</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Description</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2689236502"/>
                  </a:ext>
                </a:extLst>
              </a:tr>
              <a:tr h="215418">
                <a:tc>
                  <a:txBody>
                    <a:bodyPr/>
                    <a:lstStyle/>
                    <a:p>
                      <a:pPr marL="0" marR="0" algn="ctr">
                        <a:lnSpc>
                          <a:spcPct val="130000"/>
                        </a:lnSpc>
                        <a:spcAft>
                          <a:spcPts val="800"/>
                        </a:spcAft>
                        <a:buNone/>
                      </a:pPr>
                      <a:r>
                        <a:rPr lang="en-US" sz="1000">
                          <a:effectLst/>
                        </a:rPr>
                        <a:t>0</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Airplane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804818669"/>
                  </a:ext>
                </a:extLst>
              </a:tr>
              <a:tr h="207680">
                <a:tc>
                  <a:txBody>
                    <a:bodyPr/>
                    <a:lstStyle/>
                    <a:p>
                      <a:pPr marL="0" marR="0" algn="ctr">
                        <a:lnSpc>
                          <a:spcPct val="130000"/>
                        </a:lnSpc>
                        <a:spcAft>
                          <a:spcPts val="800"/>
                        </a:spcAft>
                        <a:buNone/>
                      </a:pPr>
                      <a:r>
                        <a:rPr lang="en-US" sz="1000">
                          <a:effectLst/>
                        </a:rPr>
                        <a:t>1</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Automobile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3900716604"/>
                  </a:ext>
                </a:extLst>
              </a:tr>
              <a:tr h="215418">
                <a:tc>
                  <a:txBody>
                    <a:bodyPr/>
                    <a:lstStyle/>
                    <a:p>
                      <a:pPr marL="0" marR="0" algn="ctr">
                        <a:lnSpc>
                          <a:spcPct val="130000"/>
                        </a:lnSpc>
                        <a:spcAft>
                          <a:spcPts val="800"/>
                        </a:spcAft>
                        <a:buNone/>
                      </a:pPr>
                      <a:r>
                        <a:rPr lang="en-US" sz="1000">
                          <a:effectLst/>
                        </a:rPr>
                        <a:t>2</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Bird</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1573152438"/>
                  </a:ext>
                </a:extLst>
              </a:tr>
              <a:tr h="207680">
                <a:tc>
                  <a:txBody>
                    <a:bodyPr/>
                    <a:lstStyle/>
                    <a:p>
                      <a:pPr marL="0" marR="0" algn="ctr">
                        <a:lnSpc>
                          <a:spcPct val="130000"/>
                        </a:lnSpc>
                        <a:spcAft>
                          <a:spcPts val="800"/>
                        </a:spcAft>
                        <a:buNone/>
                      </a:pPr>
                      <a:r>
                        <a:rPr lang="en-US" sz="1000">
                          <a:effectLst/>
                        </a:rPr>
                        <a:t>3</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Cat</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3439994816"/>
                  </a:ext>
                </a:extLst>
              </a:tr>
              <a:tr h="207680">
                <a:tc>
                  <a:txBody>
                    <a:bodyPr/>
                    <a:lstStyle/>
                    <a:p>
                      <a:pPr marL="0" marR="0" algn="ctr">
                        <a:lnSpc>
                          <a:spcPct val="130000"/>
                        </a:lnSpc>
                        <a:spcAft>
                          <a:spcPts val="800"/>
                        </a:spcAft>
                        <a:buNone/>
                      </a:pPr>
                      <a:r>
                        <a:rPr lang="en-US" sz="1000">
                          <a:effectLst/>
                        </a:rPr>
                        <a:t>4</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Dog</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3395496664"/>
                  </a:ext>
                </a:extLst>
              </a:tr>
              <a:tr h="215418">
                <a:tc>
                  <a:txBody>
                    <a:bodyPr/>
                    <a:lstStyle/>
                    <a:p>
                      <a:pPr marL="0" marR="0" algn="ctr">
                        <a:lnSpc>
                          <a:spcPct val="130000"/>
                        </a:lnSpc>
                        <a:spcAft>
                          <a:spcPts val="800"/>
                        </a:spcAft>
                        <a:buNone/>
                      </a:pPr>
                      <a:r>
                        <a:rPr lang="en-US" sz="1000">
                          <a:effectLst/>
                        </a:rPr>
                        <a:t>5</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Deer</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1247185622"/>
                  </a:ext>
                </a:extLst>
              </a:tr>
              <a:tr h="207680">
                <a:tc>
                  <a:txBody>
                    <a:bodyPr/>
                    <a:lstStyle/>
                    <a:p>
                      <a:pPr marL="0" marR="0" algn="ctr">
                        <a:lnSpc>
                          <a:spcPct val="130000"/>
                        </a:lnSpc>
                        <a:spcAft>
                          <a:spcPts val="800"/>
                        </a:spcAft>
                        <a:buNone/>
                      </a:pPr>
                      <a:r>
                        <a:rPr lang="en-US" sz="1000">
                          <a:effectLst/>
                        </a:rPr>
                        <a:t>6</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Frog</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2361707764"/>
                  </a:ext>
                </a:extLst>
              </a:tr>
              <a:tr h="207680">
                <a:tc>
                  <a:txBody>
                    <a:bodyPr/>
                    <a:lstStyle/>
                    <a:p>
                      <a:pPr marL="0" marR="0" algn="ctr">
                        <a:lnSpc>
                          <a:spcPct val="130000"/>
                        </a:lnSpc>
                        <a:spcAft>
                          <a:spcPts val="800"/>
                        </a:spcAft>
                        <a:buNone/>
                      </a:pPr>
                      <a:r>
                        <a:rPr lang="en-US" sz="1000">
                          <a:effectLst/>
                        </a:rPr>
                        <a:t>7</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Horse</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2068968305"/>
                  </a:ext>
                </a:extLst>
              </a:tr>
              <a:tr h="207680">
                <a:tc>
                  <a:txBody>
                    <a:bodyPr/>
                    <a:lstStyle/>
                    <a:p>
                      <a:pPr marL="0" marR="0" algn="ctr">
                        <a:lnSpc>
                          <a:spcPct val="130000"/>
                        </a:lnSpc>
                        <a:spcAft>
                          <a:spcPts val="800"/>
                        </a:spcAft>
                        <a:buNone/>
                      </a:pPr>
                      <a:r>
                        <a:rPr lang="en-US" sz="1000">
                          <a:effectLst/>
                        </a:rPr>
                        <a:t>8</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a:effectLst/>
                        </a:rPr>
                        <a:t>Ship</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2256815247"/>
                  </a:ext>
                </a:extLst>
              </a:tr>
              <a:tr h="207680">
                <a:tc>
                  <a:txBody>
                    <a:bodyPr/>
                    <a:lstStyle/>
                    <a:p>
                      <a:pPr marL="0" marR="0" algn="ctr">
                        <a:lnSpc>
                          <a:spcPct val="130000"/>
                        </a:lnSpc>
                        <a:spcAft>
                          <a:spcPts val="800"/>
                        </a:spcAft>
                        <a:buNone/>
                      </a:pPr>
                      <a:r>
                        <a:rPr lang="en-US" sz="1000">
                          <a:effectLst/>
                        </a:rPr>
                        <a:t>9</a:t>
                      </a:r>
                      <a:endParaRPr lang="en-US" sz="100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tc>
                  <a:txBody>
                    <a:bodyPr/>
                    <a:lstStyle/>
                    <a:p>
                      <a:pPr marL="0" marR="0" algn="ctr">
                        <a:lnSpc>
                          <a:spcPct val="130000"/>
                        </a:lnSpc>
                        <a:spcAft>
                          <a:spcPts val="800"/>
                        </a:spcAft>
                        <a:buNone/>
                      </a:pPr>
                      <a:r>
                        <a:rPr lang="en-US" sz="1000" dirty="0">
                          <a:effectLst/>
                        </a:rPr>
                        <a:t>Truck</a:t>
                      </a:r>
                      <a:endParaRPr lang="en-US" sz="10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5558" marR="65558" marT="0" marB="0"/>
                </a:tc>
                <a:extLst>
                  <a:ext uri="{0D108BD9-81ED-4DB2-BD59-A6C34878D82A}">
                    <a16:rowId xmlns:a16="http://schemas.microsoft.com/office/drawing/2014/main" val="328140971"/>
                  </a:ext>
                </a:extLst>
              </a:tr>
            </a:tbl>
          </a:graphicData>
        </a:graphic>
      </p:graphicFrame>
      <p:graphicFrame>
        <p:nvGraphicFramePr>
          <p:cNvPr id="5" name="Table 4">
            <a:extLst>
              <a:ext uri="{FF2B5EF4-FFF2-40B4-BE49-F238E27FC236}">
                <a16:creationId xmlns:a16="http://schemas.microsoft.com/office/drawing/2014/main" id="{0ADD72AB-8A17-7774-C676-3A47426AC8A7}"/>
              </a:ext>
            </a:extLst>
          </p:cNvPr>
          <p:cNvGraphicFramePr>
            <a:graphicFrameLocks noGrp="1"/>
          </p:cNvGraphicFramePr>
          <p:nvPr>
            <p:extLst>
              <p:ext uri="{D42A27DB-BD31-4B8C-83A1-F6EECF244321}">
                <p14:modId xmlns:p14="http://schemas.microsoft.com/office/powerpoint/2010/main" val="2297480443"/>
              </p:ext>
            </p:extLst>
          </p:nvPr>
        </p:nvGraphicFramePr>
        <p:xfrm>
          <a:off x="4659391" y="2960954"/>
          <a:ext cx="3894668" cy="2307693"/>
        </p:xfrm>
        <a:graphic>
          <a:graphicData uri="http://schemas.openxmlformats.org/drawingml/2006/table">
            <a:tbl>
              <a:tblPr firstRow="1" firstCol="1" bandRow="1">
                <a:tableStyleId>{5C22544A-7EE6-4342-B048-85BDC9FD1C3A}</a:tableStyleId>
              </a:tblPr>
              <a:tblGrid>
                <a:gridCol w="1947334">
                  <a:extLst>
                    <a:ext uri="{9D8B030D-6E8A-4147-A177-3AD203B41FA5}">
                      <a16:colId xmlns:a16="http://schemas.microsoft.com/office/drawing/2014/main" val="2044409494"/>
                    </a:ext>
                  </a:extLst>
                </a:gridCol>
                <a:gridCol w="1947334">
                  <a:extLst>
                    <a:ext uri="{9D8B030D-6E8A-4147-A177-3AD203B41FA5}">
                      <a16:colId xmlns:a16="http://schemas.microsoft.com/office/drawing/2014/main" val="3900864486"/>
                    </a:ext>
                  </a:extLst>
                </a:gridCol>
              </a:tblGrid>
              <a:tr h="289009">
                <a:tc>
                  <a:txBody>
                    <a:bodyPr/>
                    <a:lstStyle/>
                    <a:p>
                      <a:pPr marL="0" marR="0">
                        <a:lnSpc>
                          <a:spcPct val="130000"/>
                        </a:lnSpc>
                        <a:spcAft>
                          <a:spcPts val="800"/>
                        </a:spcAft>
                        <a:buNone/>
                      </a:pPr>
                      <a:r>
                        <a:rPr lang="en-US" sz="1000" dirty="0">
                          <a:effectLst/>
                        </a:rPr>
                        <a:t>Feature</a:t>
                      </a:r>
                      <a:endParaRPr lang="en-US" sz="10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Description</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62933202"/>
                  </a:ext>
                </a:extLst>
              </a:tr>
              <a:tr h="289009">
                <a:tc>
                  <a:txBody>
                    <a:bodyPr/>
                    <a:lstStyle/>
                    <a:p>
                      <a:pPr marL="0" marR="0">
                        <a:lnSpc>
                          <a:spcPct val="130000"/>
                        </a:lnSpc>
                        <a:spcAft>
                          <a:spcPts val="800"/>
                        </a:spcAft>
                        <a:buNone/>
                      </a:pPr>
                      <a:r>
                        <a:rPr lang="en-US" sz="1000">
                          <a:effectLst/>
                        </a:rPr>
                        <a:t>Total Samples</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60,000 images</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28333632"/>
                  </a:ext>
                </a:extLst>
              </a:tr>
              <a:tr h="289009">
                <a:tc>
                  <a:txBody>
                    <a:bodyPr/>
                    <a:lstStyle/>
                    <a:p>
                      <a:pPr marL="0" marR="0">
                        <a:lnSpc>
                          <a:spcPct val="130000"/>
                        </a:lnSpc>
                        <a:spcAft>
                          <a:spcPts val="800"/>
                        </a:spcAft>
                        <a:buNone/>
                      </a:pPr>
                      <a:r>
                        <a:rPr lang="en-US" sz="1000">
                          <a:effectLst/>
                        </a:rPr>
                        <a:t>Image Size</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32x32 pixels</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2410907"/>
                  </a:ext>
                </a:extLst>
              </a:tr>
              <a:tr h="289009">
                <a:tc>
                  <a:txBody>
                    <a:bodyPr/>
                    <a:lstStyle/>
                    <a:p>
                      <a:pPr marL="0" marR="0">
                        <a:lnSpc>
                          <a:spcPct val="130000"/>
                        </a:lnSpc>
                        <a:spcAft>
                          <a:spcPts val="800"/>
                        </a:spcAft>
                        <a:buNone/>
                      </a:pPr>
                      <a:r>
                        <a:rPr lang="en-US" sz="1000">
                          <a:effectLst/>
                        </a:rPr>
                        <a:t>Channels</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3 (Red, Green, Blue)</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04594397"/>
                  </a:ext>
                </a:extLst>
              </a:tr>
              <a:tr h="289009">
                <a:tc>
                  <a:txBody>
                    <a:bodyPr/>
                    <a:lstStyle/>
                    <a:p>
                      <a:pPr marL="0" marR="0">
                        <a:lnSpc>
                          <a:spcPct val="130000"/>
                        </a:lnSpc>
                        <a:spcAft>
                          <a:spcPts val="800"/>
                        </a:spcAft>
                        <a:buNone/>
                      </a:pPr>
                      <a:r>
                        <a:rPr lang="en-US" sz="1000">
                          <a:effectLst/>
                        </a:rPr>
                        <a:t>Classes</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10</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43645179"/>
                  </a:ext>
                </a:extLst>
              </a:tr>
              <a:tr h="289009">
                <a:tc>
                  <a:txBody>
                    <a:bodyPr/>
                    <a:lstStyle/>
                    <a:p>
                      <a:pPr marL="0" marR="0">
                        <a:lnSpc>
                          <a:spcPct val="130000"/>
                        </a:lnSpc>
                        <a:spcAft>
                          <a:spcPts val="800"/>
                        </a:spcAft>
                        <a:buNone/>
                      </a:pPr>
                      <a:r>
                        <a:rPr lang="en-US" sz="1000">
                          <a:effectLst/>
                        </a:rPr>
                        <a:t>Train/Test Split</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a:effectLst/>
                        </a:rPr>
                        <a:t>50,000 training / 10,000 testing</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98837028"/>
                  </a:ext>
                </a:extLst>
              </a:tr>
              <a:tr h="573639">
                <a:tc>
                  <a:txBody>
                    <a:bodyPr/>
                    <a:lstStyle/>
                    <a:p>
                      <a:pPr marL="0" marR="0">
                        <a:lnSpc>
                          <a:spcPct val="130000"/>
                        </a:lnSpc>
                        <a:spcAft>
                          <a:spcPts val="800"/>
                        </a:spcAft>
                        <a:buNone/>
                      </a:pPr>
                      <a:r>
                        <a:rPr lang="en-US" sz="1000">
                          <a:effectLst/>
                        </a:rPr>
                        <a:t>Source</a:t>
                      </a:r>
                      <a:endParaRPr lang="en-US" sz="105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30000"/>
                        </a:lnSpc>
                        <a:spcAft>
                          <a:spcPts val="800"/>
                        </a:spcAft>
                        <a:buNone/>
                      </a:pPr>
                      <a:r>
                        <a:rPr lang="en-US" sz="1000" dirty="0">
                          <a:effectLst/>
                        </a:rPr>
                        <a:t>Canadian Institute for Advanced Research (CIFAR)</a:t>
                      </a:r>
                      <a:endParaRPr lang="en-US" sz="105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06542732"/>
                  </a:ext>
                </a:extLst>
              </a:tr>
            </a:tbl>
          </a:graphicData>
        </a:graphic>
      </p:graphicFrame>
      <p:pic>
        <p:nvPicPr>
          <p:cNvPr id="6" name="Recorded Sound">
            <a:hlinkClick r:id="" action="ppaction://media"/>
            <a:extLst>
              <a:ext uri="{FF2B5EF4-FFF2-40B4-BE49-F238E27FC236}">
                <a16:creationId xmlns:a16="http://schemas.microsoft.com/office/drawing/2014/main" id="{B70BCDA1-215A-294E-B9E2-CD58D7C7F71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8" name="AUDIO-2025-04-29-21-10-28">
            <a:hlinkClick r:id="" action="ppaction://media"/>
            <a:extLst>
              <a:ext uri="{FF2B5EF4-FFF2-40B4-BE49-F238E27FC236}">
                <a16:creationId xmlns:a16="http://schemas.microsoft.com/office/drawing/2014/main" id="{70098EA2-CBFA-484A-28FE-1F6546128AC5}"/>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415" fill="hold"/>
                                        <p:tgtEl>
                                          <p:spTgt spid="6"/>
                                        </p:tgtEl>
                                      </p:cBhvr>
                                    </p:cmd>
                                  </p:childTnLst>
                                </p:cTn>
                              </p:par>
                            </p:childTnLst>
                          </p:cTn>
                        </p:par>
                        <p:par>
                          <p:cTn id="7" fill="hold">
                            <p:stCondLst>
                              <p:cond delay="27415"/>
                            </p:stCondLst>
                            <p:childTnLst>
                              <p:par>
                                <p:cTn id="8" presetID="1" presetClass="mediacall" presetSubtype="0" fill="hold" nodeType="afterEffect">
                                  <p:stCondLst>
                                    <p:cond delay="0"/>
                                  </p:stCondLst>
                                  <p:childTnLst>
                                    <p:cmd type="call" cmd="playFrom(0.0)">
                                      <p:cBhvr>
                                        <p:cTn id="9" dur="2295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6"/>
                </p:tgtEl>
              </p:cMediaNode>
            </p:audio>
            <p:audio>
              <p:cMediaNode vol="80000">
                <p:cTn id="11"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8" y="547815"/>
            <a:ext cx="3875389" cy="1680519"/>
          </a:xfrm>
        </p:spPr>
        <p:txBody>
          <a:bodyPr>
            <a:normAutofit/>
          </a:bodyPr>
          <a:lstStyle/>
          <a:p>
            <a:r>
              <a:rPr lang="en-US" sz="3500"/>
              <a:t>Model Architecture and Training</a:t>
            </a:r>
          </a:p>
        </p:txBody>
      </p:sp>
      <p:sp>
        <p:nvSpPr>
          <p:cNvPr id="4" name="Rectangle 1">
            <a:extLst>
              <a:ext uri="{FF2B5EF4-FFF2-40B4-BE49-F238E27FC236}">
                <a16:creationId xmlns:a16="http://schemas.microsoft.com/office/drawing/2014/main" id="{42A54E6C-66BA-850C-255A-CE590FD9D457}"/>
              </a:ext>
            </a:extLst>
          </p:cNvPr>
          <p:cNvSpPr>
            <a:spLocks noGrp="1" noChangeArrowheads="1"/>
          </p:cNvSpPr>
          <p:nvPr>
            <p:ph idx="1"/>
          </p:nvPr>
        </p:nvSpPr>
        <p:spPr bwMode="auto">
          <a:xfrm>
            <a:off x="4639964" y="547815"/>
            <a:ext cx="3884220" cy="16805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A CNN was developed using TensorFlow/</a:t>
            </a:r>
            <a:r>
              <a:rPr kumimoji="0" lang="en-US" altLang="en-US" sz="800" b="0" i="0" u="none" strike="noStrike" cap="none" normalizeH="0" baseline="0" dirty="0" err="1">
                <a:ln>
                  <a:noFill/>
                </a:ln>
                <a:effectLst/>
                <a:latin typeface="72" panose="020B0503030000000003" pitchFamily="34" charset="0"/>
              </a:rPr>
              <a:t>Keras</a:t>
            </a:r>
            <a:r>
              <a:rPr kumimoji="0" lang="en-US" altLang="en-US" sz="800" b="0" i="0" u="none" strike="noStrike" cap="none" normalizeH="0" baseline="0" dirty="0">
                <a:ln>
                  <a:noFill/>
                </a:ln>
                <a:effectLst/>
                <a:latin typeface="72" panose="020B0503030000000003" pitchFamily="34" charset="0"/>
              </a:rPr>
              <a:t> to classify CIFAR-10 images.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Architecture: 3 Conv2D + </a:t>
            </a:r>
            <a:r>
              <a:rPr kumimoji="0" lang="en-US" altLang="en-US" sz="800" b="0" i="0" u="none" strike="noStrike" cap="none" normalizeH="0" baseline="0" dirty="0" err="1">
                <a:ln>
                  <a:noFill/>
                </a:ln>
                <a:effectLst/>
                <a:latin typeface="72" panose="020B0503030000000003" pitchFamily="34" charset="0"/>
              </a:rPr>
              <a:t>ReLU</a:t>
            </a:r>
            <a:r>
              <a:rPr kumimoji="0" lang="en-US" altLang="en-US" sz="800" b="0" i="0" u="none" strike="noStrike" cap="none" normalizeH="0" baseline="0" dirty="0">
                <a:ln>
                  <a:noFill/>
                </a:ln>
                <a:effectLst/>
                <a:latin typeface="72" panose="020B0503030000000003" pitchFamily="34" charset="0"/>
              </a:rPr>
              <a:t> + </a:t>
            </a:r>
            <a:r>
              <a:rPr kumimoji="0" lang="en-US" altLang="en-US" sz="800" b="0" i="0" u="none" strike="noStrike" cap="none" normalizeH="0" baseline="0" dirty="0" err="1">
                <a:ln>
                  <a:noFill/>
                </a:ln>
                <a:effectLst/>
                <a:latin typeface="72" panose="020B0503030000000003" pitchFamily="34" charset="0"/>
              </a:rPr>
              <a:t>MaxPooling</a:t>
            </a:r>
            <a:r>
              <a:rPr kumimoji="0" lang="en-US" altLang="en-US" sz="800" b="0" i="0" u="none" strike="noStrike" cap="none" normalizeH="0" baseline="0" dirty="0">
                <a:ln>
                  <a:noFill/>
                </a:ln>
                <a:effectLst/>
                <a:latin typeface="72" panose="020B0503030000000003" pitchFamily="34" charset="0"/>
              </a:rPr>
              <a:t> blocks, followed by Flatten and Dense layers.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Input image size was 32x32x3; the output layer predicted 10 classes.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Adam optimizer (learning rate 0.001) and Sparse Categorical </a:t>
            </a:r>
            <a:r>
              <a:rPr kumimoji="0" lang="en-US" altLang="en-US" sz="800" b="0" i="0" u="none" strike="noStrike" cap="none" normalizeH="0" baseline="0" dirty="0" err="1">
                <a:ln>
                  <a:noFill/>
                </a:ln>
                <a:effectLst/>
                <a:latin typeface="72" panose="020B0503030000000003" pitchFamily="34" charset="0"/>
              </a:rPr>
              <a:t>Crossentropy</a:t>
            </a:r>
            <a:r>
              <a:rPr kumimoji="0" lang="en-US" altLang="en-US" sz="800" b="0" i="0" u="none" strike="noStrike" cap="none" normalizeH="0" baseline="0" dirty="0">
                <a:ln>
                  <a:noFill/>
                </a:ln>
                <a:effectLst/>
                <a:latin typeface="72" panose="020B0503030000000003" pitchFamily="34" charset="0"/>
              </a:rPr>
              <a:t> loss function were used.</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50,000 images were used for training and 10,000 for testing.</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800" b="0" i="0" u="none" strike="noStrike" cap="none" normalizeH="0" baseline="0" dirty="0">
                <a:ln>
                  <a:noFill/>
                </a:ln>
                <a:effectLst/>
                <a:latin typeface="72" panose="020B0503030000000003" pitchFamily="34" charset="0"/>
              </a:rPr>
              <a:t>Training occurred over 10 epochs, with random shuffling of the dataset before each epoch.</a:t>
            </a:r>
          </a:p>
        </p:txBody>
      </p:sp>
      <p:pic>
        <p:nvPicPr>
          <p:cNvPr id="5" name="Picture 4" descr="A close-up of a sign&#10;&#10;Description automatically generated">
            <a:extLst>
              <a:ext uri="{FF2B5EF4-FFF2-40B4-BE49-F238E27FC236}">
                <a16:creationId xmlns:a16="http://schemas.microsoft.com/office/drawing/2014/main" id="{F3C44404-83F2-4104-C04C-A8EDFECD5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118" y="2421924"/>
            <a:ext cx="482448" cy="3711146"/>
          </a:xfrm>
          <a:prstGeom prst="rect">
            <a:avLst/>
          </a:prstGeom>
        </p:spPr>
      </p:pic>
      <p:graphicFrame>
        <p:nvGraphicFramePr>
          <p:cNvPr id="6" name="Table 5">
            <a:extLst>
              <a:ext uri="{FF2B5EF4-FFF2-40B4-BE49-F238E27FC236}">
                <a16:creationId xmlns:a16="http://schemas.microsoft.com/office/drawing/2014/main" id="{7B67B2B0-6409-3F76-C12F-7B73FCC860E5}"/>
              </a:ext>
            </a:extLst>
          </p:cNvPr>
          <p:cNvGraphicFramePr>
            <a:graphicFrameLocks noGrp="1"/>
          </p:cNvGraphicFramePr>
          <p:nvPr>
            <p:extLst>
              <p:ext uri="{D42A27DB-BD31-4B8C-83A1-F6EECF244321}">
                <p14:modId xmlns:p14="http://schemas.microsoft.com/office/powerpoint/2010/main" val="124723802"/>
              </p:ext>
            </p:extLst>
          </p:nvPr>
        </p:nvGraphicFramePr>
        <p:xfrm>
          <a:off x="4648795" y="2709308"/>
          <a:ext cx="3875390" cy="3136386"/>
        </p:xfrm>
        <a:graphic>
          <a:graphicData uri="http://schemas.openxmlformats.org/drawingml/2006/table">
            <a:tbl>
              <a:tblPr firstRow="1" firstCol="1" bandRow="1">
                <a:tableStyleId>{5C22544A-7EE6-4342-B048-85BDC9FD1C3A}</a:tableStyleId>
              </a:tblPr>
              <a:tblGrid>
                <a:gridCol w="1173622">
                  <a:extLst>
                    <a:ext uri="{9D8B030D-6E8A-4147-A177-3AD203B41FA5}">
                      <a16:colId xmlns:a16="http://schemas.microsoft.com/office/drawing/2014/main" val="2596875745"/>
                    </a:ext>
                  </a:extLst>
                </a:gridCol>
                <a:gridCol w="787176">
                  <a:extLst>
                    <a:ext uri="{9D8B030D-6E8A-4147-A177-3AD203B41FA5}">
                      <a16:colId xmlns:a16="http://schemas.microsoft.com/office/drawing/2014/main" val="2734139483"/>
                    </a:ext>
                  </a:extLst>
                </a:gridCol>
                <a:gridCol w="679362">
                  <a:extLst>
                    <a:ext uri="{9D8B030D-6E8A-4147-A177-3AD203B41FA5}">
                      <a16:colId xmlns:a16="http://schemas.microsoft.com/office/drawing/2014/main" val="2432524468"/>
                    </a:ext>
                  </a:extLst>
                </a:gridCol>
                <a:gridCol w="1235230">
                  <a:extLst>
                    <a:ext uri="{9D8B030D-6E8A-4147-A177-3AD203B41FA5}">
                      <a16:colId xmlns:a16="http://schemas.microsoft.com/office/drawing/2014/main" val="3786711628"/>
                    </a:ext>
                  </a:extLst>
                </a:gridCol>
              </a:tblGrid>
              <a:tr h="208794">
                <a:tc>
                  <a:txBody>
                    <a:bodyPr/>
                    <a:lstStyle/>
                    <a:p>
                      <a:pPr marL="0" marR="0">
                        <a:lnSpc>
                          <a:spcPct val="130000"/>
                        </a:lnSpc>
                        <a:spcAft>
                          <a:spcPts val="800"/>
                        </a:spcAft>
                        <a:buNone/>
                      </a:pPr>
                      <a:r>
                        <a:rPr lang="en-US" sz="900">
                          <a:effectLst/>
                        </a:rPr>
                        <a:t>Layer (Type)</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Output Shape</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Parameters</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Purpose</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3509695945"/>
                  </a:ext>
                </a:extLst>
              </a:tr>
              <a:tr h="208794">
                <a:tc>
                  <a:txBody>
                    <a:bodyPr/>
                    <a:lstStyle/>
                    <a:p>
                      <a:pPr marL="0" marR="0">
                        <a:lnSpc>
                          <a:spcPct val="130000"/>
                        </a:lnSpc>
                        <a:spcAft>
                          <a:spcPts val="800"/>
                        </a:spcAft>
                        <a:buNone/>
                      </a:pPr>
                      <a:r>
                        <a:rPr lang="en-US" sz="900">
                          <a:effectLst/>
                        </a:rPr>
                        <a:t>Input Layer</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(32, 32, 3)</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Raw image input</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1772394974"/>
                  </a:ext>
                </a:extLst>
              </a:tr>
              <a:tr h="383535">
                <a:tc>
                  <a:txBody>
                    <a:bodyPr/>
                    <a:lstStyle/>
                    <a:p>
                      <a:pPr marL="0" marR="0">
                        <a:lnSpc>
                          <a:spcPct val="130000"/>
                        </a:lnSpc>
                        <a:spcAft>
                          <a:spcPts val="800"/>
                        </a:spcAft>
                        <a:buNone/>
                      </a:pPr>
                      <a:r>
                        <a:rPr lang="en-US" sz="900">
                          <a:effectLst/>
                        </a:rPr>
                        <a:t>Conv2D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(30, 30, 32)</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896</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Feature extraction with 32 filters</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743118422"/>
                  </a:ext>
                </a:extLst>
              </a:tr>
              <a:tr h="383535">
                <a:tc>
                  <a:txBody>
                    <a:bodyPr/>
                    <a:lstStyle/>
                    <a:p>
                      <a:pPr marL="0" marR="0">
                        <a:lnSpc>
                          <a:spcPct val="130000"/>
                        </a:lnSpc>
                        <a:spcAft>
                          <a:spcPts val="800"/>
                        </a:spcAft>
                        <a:buNone/>
                      </a:pPr>
                      <a:r>
                        <a:rPr lang="en-US" sz="900">
                          <a:effectLst/>
                        </a:rPr>
                        <a:t>MaxPooling2D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(15, 15, 32)</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Downsampling to reduce spatial size</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174637689"/>
                  </a:ext>
                </a:extLst>
              </a:tr>
              <a:tr h="383535">
                <a:tc>
                  <a:txBody>
                    <a:bodyPr/>
                    <a:lstStyle/>
                    <a:p>
                      <a:pPr marL="0" marR="0">
                        <a:lnSpc>
                          <a:spcPct val="130000"/>
                        </a:lnSpc>
                        <a:spcAft>
                          <a:spcPts val="800"/>
                        </a:spcAft>
                        <a:buNone/>
                      </a:pPr>
                      <a:r>
                        <a:rPr lang="en-US" sz="900">
                          <a:effectLst/>
                        </a:rPr>
                        <a:t>Conv2D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(13, 13, 64)</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18,496</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Feature extraction with 64 filters</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3329650854"/>
                  </a:ext>
                </a:extLst>
              </a:tr>
              <a:tr h="208794">
                <a:tc>
                  <a:txBody>
                    <a:bodyPr/>
                    <a:lstStyle/>
                    <a:p>
                      <a:pPr marL="0" marR="0">
                        <a:lnSpc>
                          <a:spcPct val="130000"/>
                        </a:lnSpc>
                        <a:spcAft>
                          <a:spcPts val="800"/>
                        </a:spcAft>
                        <a:buNone/>
                      </a:pPr>
                      <a:r>
                        <a:rPr lang="en-US" sz="900">
                          <a:effectLst/>
                        </a:rPr>
                        <a:t>MaxPooling2D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(6, 6, 64)</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Further downsampling</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1274150831"/>
                  </a:ext>
                </a:extLst>
              </a:tr>
              <a:tr h="383535">
                <a:tc>
                  <a:txBody>
                    <a:bodyPr/>
                    <a:lstStyle/>
                    <a:p>
                      <a:pPr marL="0" marR="0">
                        <a:lnSpc>
                          <a:spcPct val="130000"/>
                        </a:lnSpc>
                        <a:spcAft>
                          <a:spcPts val="800"/>
                        </a:spcAft>
                        <a:buNone/>
                      </a:pPr>
                      <a:r>
                        <a:rPr lang="en-US" sz="900">
                          <a:effectLst/>
                        </a:rPr>
                        <a:t>Conv2D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(4, 4, 64)</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36,928</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Deeper feature extraction</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237806695"/>
                  </a:ext>
                </a:extLst>
              </a:tr>
              <a:tr h="383535">
                <a:tc>
                  <a:txBody>
                    <a:bodyPr/>
                    <a:lstStyle/>
                    <a:p>
                      <a:pPr marL="0" marR="0">
                        <a:lnSpc>
                          <a:spcPct val="130000"/>
                        </a:lnSpc>
                        <a:spcAft>
                          <a:spcPts val="800"/>
                        </a:spcAft>
                        <a:buNone/>
                      </a:pPr>
                      <a:r>
                        <a:rPr lang="en-US" sz="900">
                          <a:effectLst/>
                        </a:rPr>
                        <a:t>Flatten</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(1024)</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Converts 2D features to 1D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3992996621"/>
                  </a:ext>
                </a:extLst>
              </a:tr>
              <a:tr h="383535">
                <a:tc>
                  <a:txBody>
                    <a:bodyPr/>
                    <a:lstStyle/>
                    <a:p>
                      <a:pPr marL="0" marR="0">
                        <a:lnSpc>
                          <a:spcPct val="130000"/>
                        </a:lnSpc>
                        <a:spcAft>
                          <a:spcPts val="800"/>
                        </a:spcAft>
                        <a:buNone/>
                      </a:pPr>
                      <a:r>
                        <a:rPr lang="en-US" sz="900">
                          <a:effectLst/>
                        </a:rPr>
                        <a:t>Dense (Fully Connected)</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(64)</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65,600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Learning high-level features</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1769553340"/>
                  </a:ext>
                </a:extLst>
              </a:tr>
              <a:tr h="208794">
                <a:tc>
                  <a:txBody>
                    <a:bodyPr/>
                    <a:lstStyle/>
                    <a:p>
                      <a:pPr marL="0" marR="0">
                        <a:lnSpc>
                          <a:spcPct val="130000"/>
                        </a:lnSpc>
                        <a:spcAft>
                          <a:spcPts val="800"/>
                        </a:spcAft>
                        <a:buNone/>
                      </a:pPr>
                      <a:r>
                        <a:rPr lang="en-US" sz="900">
                          <a:effectLst/>
                        </a:rPr>
                        <a:t>Dense (Output Layer)</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(10)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650</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tc>
                  <a:txBody>
                    <a:bodyPr/>
                    <a:lstStyle/>
                    <a:p>
                      <a:pPr marL="0" marR="0">
                        <a:lnSpc>
                          <a:spcPct val="130000"/>
                        </a:lnSpc>
                        <a:spcAft>
                          <a:spcPts val="800"/>
                        </a:spcAft>
                        <a:buNone/>
                      </a:pPr>
                      <a:r>
                        <a:rPr lang="en-US" sz="900">
                          <a:effectLst/>
                        </a:rPr>
                        <a:t>Final class probabilities</a:t>
                      </a:r>
                      <a:endParaRPr lang="en-US" sz="900">
                        <a:effectLst/>
                        <a:latin typeface="Calibri" panose="020F0502020204030204" pitchFamily="34" charset="0"/>
                        <a:ea typeface="Times New Roman" panose="02020603050405020304" pitchFamily="18" charset="0"/>
                        <a:cs typeface="Times New Roman" panose="02020603050405020304" pitchFamily="18" charset="0"/>
                      </a:endParaRPr>
                    </a:p>
                  </a:txBody>
                  <a:tcPr marL="8401" marR="8401" marT="8401" marB="8401" anchor="ctr"/>
                </a:tc>
                <a:extLst>
                  <a:ext uri="{0D108BD9-81ED-4DB2-BD59-A6C34878D82A}">
                    <a16:rowId xmlns:a16="http://schemas.microsoft.com/office/drawing/2014/main" val="98462332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60055-0B41-E60D-826A-ABCD52F9831C}"/>
              </a:ext>
            </a:extLst>
          </p:cNvPr>
          <p:cNvSpPr>
            <a:spLocks noGrp="1"/>
          </p:cNvSpPr>
          <p:nvPr>
            <p:ph type="title"/>
          </p:nvPr>
        </p:nvSpPr>
        <p:spPr>
          <a:xfrm>
            <a:off x="473202" y="502920"/>
            <a:ext cx="2564892" cy="1463040"/>
          </a:xfrm>
        </p:spPr>
        <p:txBody>
          <a:bodyPr anchor="ctr">
            <a:normAutofit/>
          </a:bodyPr>
          <a:lstStyle/>
          <a:p>
            <a:pPr>
              <a:lnSpc>
                <a:spcPct val="90000"/>
              </a:lnSpc>
            </a:pPr>
            <a:r>
              <a:rPr lang="en-US" sz="3300"/>
              <a:t>Model Results and Evaluation</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F1346B8-369D-3138-2425-D5057A2DFD2F}"/>
              </a:ext>
            </a:extLst>
          </p:cNvPr>
          <p:cNvSpPr>
            <a:spLocks noGrp="1" noChangeArrowheads="1"/>
          </p:cNvSpPr>
          <p:nvPr>
            <p:ph idx="1"/>
          </p:nvPr>
        </p:nvSpPr>
        <p:spPr bwMode="auto">
          <a:xfrm>
            <a:off x="3490721" y="502920"/>
            <a:ext cx="5170932" cy="14630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None/>
              <a:tabLst/>
            </a:pPr>
            <a:r>
              <a:rPr kumimoji="0" lang="en-US" altLang="en-US" sz="900" b="0" i="0" u="none" strike="noStrike" cap="none" normalizeH="0" baseline="0" dirty="0">
                <a:ln>
                  <a:noFill/>
                </a:ln>
                <a:effectLst/>
                <a:latin typeface="72" panose="020B0503030000000003" pitchFamily="34" charset="0"/>
              </a:rPr>
              <a:t>Training accuracy steadily increased, reaching approximately 79%.</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900" b="0" i="0" u="none" strike="noStrike" cap="none" normalizeH="0" baseline="0" dirty="0">
                <a:ln>
                  <a:noFill/>
                </a:ln>
                <a:effectLst/>
                <a:latin typeface="72" panose="020B0503030000000003" pitchFamily="34" charset="0"/>
              </a:rPr>
              <a:t>Validation accuracy initially improved but plateaued at around 72% after 7 epochs.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900" b="0" i="0" u="none" strike="noStrike" cap="none" normalizeH="0" baseline="0" dirty="0">
                <a:ln>
                  <a:noFill/>
                </a:ln>
                <a:effectLst/>
                <a:latin typeface="72" panose="020B0503030000000003" pitchFamily="34" charset="0"/>
              </a:rPr>
              <a:t>Training loss consistently decreased, indicating good learning; validation loss showed slight fluctuations.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900" b="0" i="0" u="none" strike="noStrike" cap="none" normalizeH="0" baseline="0" dirty="0">
                <a:ln>
                  <a:noFill/>
                </a:ln>
                <a:effectLst/>
                <a:latin typeface="72" panose="020B0503030000000003" pitchFamily="34" charset="0"/>
              </a:rPr>
              <a:t>Model performance was evaluated using training/validation curves, confusion matrix, and classification metrics.</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900" b="0" i="0" u="none" strike="noStrike" cap="none" normalizeH="0" baseline="0" dirty="0">
                <a:ln>
                  <a:noFill/>
                </a:ln>
                <a:effectLst/>
                <a:latin typeface="72" panose="020B0503030000000003" pitchFamily="34" charset="0"/>
              </a:rPr>
              <a:t>Overall, the model demonstrated strong generalization and effective learning on small, low-resolution images.</a:t>
            </a:r>
          </a:p>
        </p:txBody>
      </p:sp>
      <p:pic>
        <p:nvPicPr>
          <p:cNvPr id="5" name="Picture 4" descr="A graph of a graph of a graph of a graph of a graph of a graph of a graph of a graph of a graph of a graph of a graph of a graph of a graph of&#10;&#10;Description automatically generated">
            <a:extLst>
              <a:ext uri="{FF2B5EF4-FFF2-40B4-BE49-F238E27FC236}">
                <a16:creationId xmlns:a16="http://schemas.microsoft.com/office/drawing/2014/main" id="{1BD46E83-2713-0844-8396-C0C93A7294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202" y="2581744"/>
            <a:ext cx="8188452" cy="3377736"/>
          </a:xfrm>
          <a:prstGeom prst="rect">
            <a:avLst/>
          </a:prstGeom>
        </p:spPr>
      </p:pic>
      <p:pic>
        <p:nvPicPr>
          <p:cNvPr id="3" name="Recorded Sound">
            <a:hlinkClick r:id="" action="ppaction://media"/>
            <a:extLst>
              <a:ext uri="{FF2B5EF4-FFF2-40B4-BE49-F238E27FC236}">
                <a16:creationId xmlns:a16="http://schemas.microsoft.com/office/drawing/2014/main" id="{46558C0B-FCB2-7F9E-085C-477D59A57437}"/>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4327525" y="3184525"/>
            <a:ext cx="487363" cy="487363"/>
          </a:xfrm>
          <a:prstGeom prst="rect">
            <a:avLst/>
          </a:prstGeom>
        </p:spPr>
      </p:pic>
      <p:pic>
        <p:nvPicPr>
          <p:cNvPr id="7" name="AUDIO-2025-04-29-21-11-32">
            <a:hlinkClick r:id="" action="ppaction://media"/>
            <a:extLst>
              <a:ext uri="{FF2B5EF4-FFF2-40B4-BE49-F238E27FC236}">
                <a16:creationId xmlns:a16="http://schemas.microsoft.com/office/drawing/2014/main" id="{3B8354D2-95AB-C20D-540D-DDF0CAD6D952}"/>
              </a:ext>
            </a:extLst>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4327525" y="3184525"/>
            <a:ext cx="487363" cy="487363"/>
          </a:xfrm>
          <a:prstGeom prst="rect">
            <a:avLst/>
          </a:prstGeom>
        </p:spPr>
      </p:pic>
      <p:pic>
        <p:nvPicPr>
          <p:cNvPr id="8" name="AUDIO-2025-04-29-21-10-59">
            <a:hlinkClick r:id="" action="ppaction://media"/>
            <a:extLst>
              <a:ext uri="{FF2B5EF4-FFF2-40B4-BE49-F238E27FC236}">
                <a16:creationId xmlns:a16="http://schemas.microsoft.com/office/drawing/2014/main" id="{B87E4186-B757-354C-EAF6-8D910B970935}"/>
              </a:ext>
            </a:extLst>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4327525" y="3184525"/>
            <a:ext cx="487363" cy="487363"/>
          </a:xfrm>
          <a:prstGeom prst="rect">
            <a:avLst/>
          </a:prstGeom>
        </p:spPr>
      </p:pic>
    </p:spTree>
    <p:extLst>
      <p:ext uri="{BB962C8B-B14F-4D97-AF65-F5344CB8AC3E}">
        <p14:creationId xmlns:p14="http://schemas.microsoft.com/office/powerpoint/2010/main" val="394542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533"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20309" fill="hold"/>
                                        <p:tgtEl>
                                          <p:spTgt spid="7"/>
                                        </p:tgtEl>
                                      </p:cBhvr>
                                    </p:cmd>
                                  </p:childTnLst>
                                </p:cTn>
                              </p:par>
                            </p:childTnLst>
                          </p:cTn>
                        </p:par>
                        <p:par>
                          <p:cTn id="11" fill="hold">
                            <p:stCondLst>
                              <p:cond delay="20309"/>
                            </p:stCondLst>
                            <p:childTnLst>
                              <p:par>
                                <p:cTn id="12" presetID="1" presetClass="mediacall" presetSubtype="0" fill="hold" nodeType="afterEffect">
                                  <p:stCondLst>
                                    <p:cond delay="0"/>
                                  </p:stCondLst>
                                  <p:childTnLst>
                                    <p:cmd type="call" cmd="playFrom(0.0)">
                                      <p:cBhvr>
                                        <p:cTn id="13" dur="2114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3"/>
                </p:tgtEl>
              </p:cMediaNode>
            </p:audio>
            <p:audio>
              <p:cMediaNode vol="80000">
                <p:cTn id="15" fill="hold" display="0">
                  <p:stCondLst>
                    <p:cond delay="indefinite"/>
                  </p:stCondLst>
                  <p:endCondLst>
                    <p:cond evt="onStopAudio" delay="0">
                      <p:tgtEl>
                        <p:sldTgt/>
                      </p:tgtEl>
                    </p:cond>
                  </p:endCondLst>
                </p:cTn>
                <p:tgtEl>
                  <p:spTgt spid="7"/>
                </p:tgtEl>
              </p:cMediaNode>
            </p:audio>
            <p:audio>
              <p:cMediaNode vol="80000">
                <p:cTn id="16" fill="hold" display="0">
                  <p:stCondLst>
                    <p:cond delay="indefinite"/>
                  </p:stCondLst>
                  <p:endCondLst>
                    <p:cond evt="onStopAudio" delay="0">
                      <p:tgtEl>
                        <p:sldTgt/>
                      </p:tgtEl>
                    </p:cond>
                  </p:endCondLst>
                </p:cTn>
                <p:tgtEl>
                  <p:spTgt spid="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40080"/>
            <a:ext cx="3614166" cy="1481328"/>
          </a:xfrm>
        </p:spPr>
        <p:txBody>
          <a:bodyPr anchor="b">
            <a:normAutofit/>
          </a:bodyPr>
          <a:lstStyle/>
          <a:p>
            <a:pPr>
              <a:lnSpc>
                <a:spcPct val="90000"/>
              </a:lnSpc>
            </a:pPr>
            <a:r>
              <a:rPr lang="en-US" sz="4700"/>
              <a:t>Results &amp; Analysis</a:t>
            </a: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660904"/>
            <a:ext cx="3614166" cy="3547872"/>
          </a:xfrm>
        </p:spPr>
        <p:txBody>
          <a:bodyPr anchor="t">
            <a:normAutofit/>
          </a:bodyPr>
          <a:lstStyle/>
          <a:p>
            <a:pPr marL="0" indent="0">
              <a:lnSpc>
                <a:spcPct val="90000"/>
              </a:lnSpc>
              <a:buNone/>
            </a:pPr>
            <a:r>
              <a:rPr lang="en-US" sz="1200"/>
              <a:t>The model achieved a </a:t>
            </a:r>
            <a:r>
              <a:rPr lang="en-US" sz="1200" b="1"/>
              <a:t>final test accuracy of 72.31%</a:t>
            </a:r>
            <a:r>
              <a:rPr lang="en-US" sz="1200"/>
              <a:t>, correctly predicting about 7 out of 10 unseen images.</a:t>
            </a:r>
            <a:br>
              <a:rPr lang="en-US" sz="1200"/>
            </a:br>
            <a:r>
              <a:rPr lang="en-US" sz="1200"/>
              <a:t>The </a:t>
            </a:r>
            <a:r>
              <a:rPr lang="en-US" sz="1200" b="1"/>
              <a:t>confusion matrix</a:t>
            </a:r>
            <a:r>
              <a:rPr lang="en-US" sz="1200"/>
              <a:t> revealed high accuracy for classes like airplanes, cars, frogs, ships, and trucks.</a:t>
            </a:r>
            <a:br>
              <a:rPr lang="en-US" sz="1200"/>
            </a:br>
            <a:r>
              <a:rPr lang="en-US" sz="1200"/>
              <a:t>Misclassifications were more common between </a:t>
            </a:r>
            <a:r>
              <a:rPr lang="en-US" sz="1200" b="1"/>
              <a:t>cats and dogs</a:t>
            </a:r>
            <a:r>
              <a:rPr lang="en-US" sz="1200"/>
              <a:t>, and </a:t>
            </a:r>
            <a:r>
              <a:rPr lang="en-US" sz="1200" b="1"/>
              <a:t>birds and airplanes</a:t>
            </a:r>
            <a:r>
              <a:rPr lang="en-US" sz="1200"/>
              <a:t>, likely due to visual similarity.</a:t>
            </a:r>
            <a:br>
              <a:rPr lang="en-US" sz="1200"/>
            </a:br>
            <a:r>
              <a:rPr lang="en-US" sz="1200"/>
              <a:t>Deer and horses also showed some overlap in predictions.</a:t>
            </a:r>
            <a:br>
              <a:rPr lang="en-US" sz="1200"/>
            </a:br>
            <a:r>
              <a:rPr lang="en-US" sz="1200"/>
              <a:t>Overall misclassification rates remained low.</a:t>
            </a:r>
            <a:br>
              <a:rPr lang="en-US" sz="1200"/>
            </a:br>
            <a:r>
              <a:rPr lang="en-US" sz="1200"/>
              <a:t>Improvement opportunities include </a:t>
            </a:r>
            <a:r>
              <a:rPr lang="en-US" sz="1200" b="1"/>
              <a:t>data augmentation</a:t>
            </a:r>
            <a:r>
              <a:rPr lang="en-US" sz="1200"/>
              <a:t> and </a:t>
            </a:r>
            <a:r>
              <a:rPr lang="en-US" sz="1200" b="1"/>
              <a:t>deeper CNN architectures</a:t>
            </a:r>
            <a:r>
              <a:rPr lang="en-US" sz="1200"/>
              <a:t>.</a:t>
            </a:r>
            <a:br>
              <a:rPr lang="en-US" sz="1200"/>
            </a:br>
            <a:r>
              <a:rPr lang="en-US" sz="1200"/>
              <a:t>The </a:t>
            </a:r>
            <a:r>
              <a:rPr lang="en-US" sz="1200" b="1"/>
              <a:t>classification report</a:t>
            </a:r>
            <a:r>
              <a:rPr lang="en-US" sz="1200"/>
              <a:t> showed high precision and recall for airplanes, frogs, and ships.</a:t>
            </a:r>
            <a:br>
              <a:rPr lang="en-US" sz="1200"/>
            </a:br>
            <a:r>
              <a:rPr lang="en-US" sz="1200"/>
              <a:t>Precision was lower for visually similar classes, especially cats and dogs.</a:t>
            </a:r>
            <a:br>
              <a:rPr lang="en-US" sz="1200"/>
            </a:br>
            <a:r>
              <a:rPr lang="en-US" sz="1200"/>
              <a:t>The model captured strong inter-class distinctions but struggled slightly with similar features.</a:t>
            </a:r>
            <a:br>
              <a:rPr lang="en-US" sz="1200"/>
            </a:br>
            <a:r>
              <a:rPr lang="en-US" sz="1200"/>
              <a:t>These insights validate the model’s robustness and suggest clear paths for enhancement.</a:t>
            </a:r>
          </a:p>
        </p:txBody>
      </p:sp>
      <p:pic>
        <p:nvPicPr>
          <p:cNvPr id="4" name="Picture 3" descr="A graph with numbers and symbols&#10;&#10;Description automatically generated with medium confidence">
            <a:extLst>
              <a:ext uri="{FF2B5EF4-FFF2-40B4-BE49-F238E27FC236}">
                <a16:creationId xmlns:a16="http://schemas.microsoft.com/office/drawing/2014/main" id="{28C0B3E1-138C-7EF0-27CA-389C9561E6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7838" y="2534208"/>
            <a:ext cx="4094226" cy="3674568"/>
          </a:xfrm>
          <a:prstGeom prst="rect">
            <a:avLst/>
          </a:prstGeom>
        </p:spPr>
      </p:pic>
      <p:pic>
        <p:nvPicPr>
          <p:cNvPr id="5" name="Recorded Sound">
            <a:hlinkClick r:id="" action="ppaction://media"/>
            <a:extLst>
              <a:ext uri="{FF2B5EF4-FFF2-40B4-BE49-F238E27FC236}">
                <a16:creationId xmlns:a16="http://schemas.microsoft.com/office/drawing/2014/main" id="{2452D694-9195-E8B9-C6DD-BAC5AC8F839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4327525" y="3184525"/>
            <a:ext cx="487363" cy="487363"/>
          </a:xfrm>
          <a:prstGeom prst="rect">
            <a:avLst/>
          </a:prstGeom>
        </p:spPr>
      </p:pic>
      <p:pic>
        <p:nvPicPr>
          <p:cNvPr id="7" name="AUDIO-2025-04-29-21-11-32">
            <a:hlinkClick r:id="" action="ppaction://media"/>
            <a:extLst>
              <a:ext uri="{FF2B5EF4-FFF2-40B4-BE49-F238E27FC236}">
                <a16:creationId xmlns:a16="http://schemas.microsoft.com/office/drawing/2014/main" id="{64488DDA-8E05-98C1-B50E-C359783E2D6A}"/>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161" fill="hold"/>
                                        <p:tgtEl>
                                          <p:spTgt spid="5"/>
                                        </p:tgtEl>
                                      </p:cBhvr>
                                    </p:cmd>
                                  </p:childTnLst>
                                </p:cTn>
                              </p:par>
                            </p:childTnLst>
                          </p:cTn>
                        </p:par>
                        <p:par>
                          <p:cTn id="7" fill="hold">
                            <p:stCondLst>
                              <p:cond delay="26161"/>
                            </p:stCondLst>
                            <p:childTnLst>
                              <p:par>
                                <p:cTn id="8" presetID="1" presetClass="mediacall" presetSubtype="0" fill="hold" nodeType="afterEffect">
                                  <p:stCondLst>
                                    <p:cond delay="0"/>
                                  </p:stCondLst>
                                  <p:childTnLst>
                                    <p:cmd type="call" cmd="playFrom(0.0)">
                                      <p:cBhvr>
                                        <p:cTn id="9" dur="2030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5"/>
                </p:tgtEl>
              </p:cMediaNode>
            </p:audio>
            <p:audio>
              <p:cMediaNode vol="80000">
                <p:cTn id="11"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1417" y="1138036"/>
            <a:ext cx="4083287" cy="1402470"/>
          </a:xfrm>
        </p:spPr>
        <p:txBody>
          <a:bodyPr anchor="t">
            <a:normAutofit/>
          </a:bodyPr>
          <a:lstStyle/>
          <a:p>
            <a:r>
              <a:rPr lang="en-US" sz="2800"/>
              <a:t>Conclusion</a:t>
            </a:r>
          </a:p>
        </p:txBody>
      </p:sp>
      <p:pic>
        <p:nvPicPr>
          <p:cNvPr id="5" name="Picture 4" descr="Plane in red circle">
            <a:extLst>
              <a:ext uri="{FF2B5EF4-FFF2-40B4-BE49-F238E27FC236}">
                <a16:creationId xmlns:a16="http://schemas.microsoft.com/office/drawing/2014/main" id="{4166DCA4-5271-E028-0419-EADA870A9B88}"/>
              </a:ext>
            </a:extLst>
          </p:cNvPr>
          <p:cNvPicPr>
            <a:picLocks noChangeAspect="1"/>
          </p:cNvPicPr>
          <p:nvPr/>
        </p:nvPicPr>
        <p:blipFill>
          <a:blip r:embed="rId12"/>
          <a:srcRect l="29884" r="30683" b="1"/>
          <a:stretch/>
        </p:blipFill>
        <p:spPr>
          <a:xfrm>
            <a:off x="20" y="10"/>
            <a:ext cx="3863363"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401417" y="2551176"/>
            <a:ext cx="4083287" cy="3591207"/>
          </a:xfrm>
        </p:spPr>
        <p:txBody>
          <a:bodyPr>
            <a:normAutofit/>
          </a:bodyPr>
          <a:lstStyle/>
          <a:p>
            <a:pPr marL="0" indent="0">
              <a:lnSpc>
                <a:spcPct val="90000"/>
              </a:lnSpc>
              <a:buNone/>
            </a:pPr>
            <a:r>
              <a:rPr lang="en-US" sz="1200"/>
              <a:t>This project successfully implemented and evaluated a CNN for classifying CIFAR-10 images.</a:t>
            </a:r>
            <a:br>
              <a:rPr lang="en-US" sz="1200"/>
            </a:br>
            <a:r>
              <a:rPr lang="en-US" sz="1200"/>
              <a:t>The model achieved </a:t>
            </a:r>
            <a:r>
              <a:rPr lang="en-US" sz="1200" b="1"/>
              <a:t>72.31% test accuracy</a:t>
            </a:r>
            <a:r>
              <a:rPr lang="en-US" sz="1200"/>
              <a:t>, indicating strong generalization to unseen data.</a:t>
            </a:r>
            <a:br>
              <a:rPr lang="en-US" sz="1200"/>
            </a:br>
            <a:r>
              <a:rPr lang="en-US" sz="1200"/>
              <a:t>Training and validation curves showed effective learning with minimal overfitting.</a:t>
            </a:r>
            <a:br>
              <a:rPr lang="en-US" sz="1200"/>
            </a:br>
            <a:r>
              <a:rPr lang="en-US" sz="1200"/>
              <a:t>The model performed well on distinct classes like airplanes, ships, and trucks.</a:t>
            </a:r>
            <a:br>
              <a:rPr lang="en-US" sz="1200"/>
            </a:br>
            <a:r>
              <a:rPr lang="en-US" sz="1200"/>
              <a:t>It struggled more with visually similar classes like cats and dogs.</a:t>
            </a:r>
            <a:br>
              <a:rPr lang="en-US" sz="1200"/>
            </a:br>
            <a:r>
              <a:rPr lang="en-US" sz="1200"/>
              <a:t>Improvements can include deeper architectures, data augmentation, and transfer learning.</a:t>
            </a:r>
            <a:br>
              <a:rPr lang="en-US" sz="1200"/>
            </a:br>
            <a:r>
              <a:rPr lang="en-US" sz="1200"/>
              <a:t>The project also explored CNN advancements and their real-world applications.</a:t>
            </a:r>
            <a:br>
              <a:rPr lang="en-US" sz="1200"/>
            </a:br>
            <a:r>
              <a:rPr lang="en-US" sz="1200"/>
              <a:t>Key challenges identified include robustness, data efficiency, and interpretability.</a:t>
            </a:r>
            <a:br>
              <a:rPr lang="en-US" sz="1200"/>
            </a:br>
            <a:r>
              <a:rPr lang="en-US" sz="1200"/>
              <a:t>The work validates CNNs as effective tools for image classification tasks.</a:t>
            </a:r>
            <a:br>
              <a:rPr lang="en-US" sz="1200"/>
            </a:br>
            <a:r>
              <a:rPr lang="en-US" sz="1200"/>
              <a:t>It lays the groundwork for future research in more complex visual recognition problems.</a:t>
            </a:r>
          </a:p>
        </p:txBody>
      </p:sp>
      <p:pic>
        <p:nvPicPr>
          <p:cNvPr id="4" name="Recorded Sound">
            <a:hlinkClick r:id="" action="ppaction://media"/>
            <a:extLst>
              <a:ext uri="{FF2B5EF4-FFF2-40B4-BE49-F238E27FC236}">
                <a16:creationId xmlns:a16="http://schemas.microsoft.com/office/drawing/2014/main" id="{46748EAC-EA71-194D-366D-939DAB6ECB1C}"/>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4327525" y="3184525"/>
            <a:ext cx="487363" cy="487363"/>
          </a:xfrm>
          <a:prstGeom prst="rect">
            <a:avLst/>
          </a:prstGeom>
        </p:spPr>
      </p:pic>
      <p:pic>
        <p:nvPicPr>
          <p:cNvPr id="7" name="AUDIO-2025-04-29-21-08-14">
            <a:hlinkClick r:id="" action="ppaction://media"/>
            <a:extLst>
              <a:ext uri="{FF2B5EF4-FFF2-40B4-BE49-F238E27FC236}">
                <a16:creationId xmlns:a16="http://schemas.microsoft.com/office/drawing/2014/main" id="{582404F1-DE50-ECC1-339E-DE4456B7C35D}"/>
              </a:ext>
            </a:extLst>
          </p:cNvPr>
          <p:cNvPicPr>
            <a:picLocks noChangeAspect="1"/>
          </p:cNvPicPr>
          <p:nvPr>
            <a:audioFile r:link="rId4"/>
            <p:extLst>
              <p:ext uri="{DAA4B4D4-6D71-4841-9C94-3DE7FCFB9230}">
                <p14:media xmlns:p14="http://schemas.microsoft.com/office/powerpoint/2010/main" r:embed="rId3"/>
              </p:ext>
            </p:extLst>
          </p:nvPr>
        </p:nvPicPr>
        <p:blipFill>
          <a:blip r:embed="rId13"/>
          <a:stretch>
            <a:fillRect/>
          </a:stretch>
        </p:blipFill>
        <p:spPr>
          <a:xfrm>
            <a:off x="4327525" y="3184525"/>
            <a:ext cx="487363" cy="487363"/>
          </a:xfrm>
          <a:prstGeom prst="rect">
            <a:avLst/>
          </a:prstGeom>
        </p:spPr>
      </p:pic>
      <p:pic>
        <p:nvPicPr>
          <p:cNvPr id="8" name="AUDIO-2025-04-29-21-10-59">
            <a:hlinkClick r:id="" action="ppaction://media"/>
            <a:extLst>
              <a:ext uri="{FF2B5EF4-FFF2-40B4-BE49-F238E27FC236}">
                <a16:creationId xmlns:a16="http://schemas.microsoft.com/office/drawing/2014/main" id="{50680490-19C1-0E97-1AB7-82CEE7700928}"/>
              </a:ext>
            </a:extLst>
          </p:cNvPr>
          <p:cNvPicPr>
            <a:picLocks noChangeAspect="1"/>
          </p:cNvPicPr>
          <p:nvPr>
            <a:audioFile r:link="rId6"/>
            <p:extLst>
              <p:ext uri="{DAA4B4D4-6D71-4841-9C94-3DE7FCFB9230}">
                <p14:media xmlns:p14="http://schemas.microsoft.com/office/powerpoint/2010/main" r:embed="rId5"/>
              </p:ext>
            </p:extLst>
          </p:nvPr>
        </p:nvPicPr>
        <p:blipFill>
          <a:blip r:embed="rId13"/>
          <a:stretch>
            <a:fillRect/>
          </a:stretch>
        </p:blipFill>
        <p:spPr>
          <a:xfrm>
            <a:off x="4327525" y="3184525"/>
            <a:ext cx="487363" cy="487363"/>
          </a:xfrm>
          <a:prstGeom prst="rect">
            <a:avLst/>
          </a:prstGeom>
        </p:spPr>
      </p:pic>
      <p:pic>
        <p:nvPicPr>
          <p:cNvPr id="10" name="AUDIO-2025-04-29-21-11-32">
            <a:hlinkClick r:id="" action="ppaction://media"/>
            <a:extLst>
              <a:ext uri="{FF2B5EF4-FFF2-40B4-BE49-F238E27FC236}">
                <a16:creationId xmlns:a16="http://schemas.microsoft.com/office/drawing/2014/main" id="{9478CBD9-1BA5-9F11-9C54-37200597D69E}"/>
              </a:ext>
            </a:extLst>
          </p:cNvPr>
          <p:cNvPicPr>
            <a:picLocks noChangeAspect="1"/>
          </p:cNvPicPr>
          <p:nvPr>
            <a:audioFile r:link="rId8"/>
            <p:extLst>
              <p:ext uri="{DAA4B4D4-6D71-4841-9C94-3DE7FCFB9230}">
                <p14:media xmlns:p14="http://schemas.microsoft.com/office/powerpoint/2010/main" r:embed="rId7"/>
              </p:ext>
            </p:extLst>
          </p:nvPr>
        </p:nvPicPr>
        <p:blipFill>
          <a:blip r:embed="rId13"/>
          <a:stretch>
            <a:fillRect/>
          </a:stretch>
        </p:blipFill>
        <p:spPr>
          <a:xfrm>
            <a:off x="4327525" y="3184525"/>
            <a:ext cx="487363" cy="487363"/>
          </a:xfrm>
          <a:prstGeom prst="rect">
            <a:avLst/>
          </a:prstGeom>
        </p:spPr>
      </p:pic>
      <p:pic>
        <p:nvPicPr>
          <p:cNvPr id="11" name="AUDIO-2025-04-29-21-11-32">
            <a:hlinkClick r:id="" action="ppaction://media"/>
            <a:extLst>
              <a:ext uri="{FF2B5EF4-FFF2-40B4-BE49-F238E27FC236}">
                <a16:creationId xmlns:a16="http://schemas.microsoft.com/office/drawing/2014/main" id="{FF2704D2-2766-AC21-EC81-898E704B1ECD}"/>
              </a:ext>
            </a:extLst>
          </p:cNvPr>
          <p:cNvPicPr>
            <a:picLocks noChangeAspect="1"/>
          </p:cNvPicPr>
          <p:nvPr>
            <a:audioFile r:link="rId8"/>
            <p:extLst>
              <p:ext uri="{DAA4B4D4-6D71-4841-9C94-3DE7FCFB9230}">
                <p14:media xmlns:p14="http://schemas.microsoft.com/office/powerpoint/2010/main" r:embed="rId7"/>
              </p:ext>
            </p:extLst>
          </p:nvPr>
        </p:nvPicPr>
        <p:blipFill>
          <a:blip r:embed="rId13"/>
          <a:stretch>
            <a:fillRect/>
          </a:stretch>
        </p:blipFill>
        <p:spPr>
          <a:xfrm>
            <a:off x="4327525" y="3184525"/>
            <a:ext cx="487363" cy="487363"/>
          </a:xfrm>
          <a:prstGeom prst="rect">
            <a:avLst/>
          </a:prstGeom>
        </p:spPr>
      </p:pic>
      <p:pic>
        <p:nvPicPr>
          <p:cNvPr id="12" name="AUDIO-2025-04-29-21-11-59">
            <a:hlinkClick r:id="" action="ppaction://media"/>
            <a:extLst>
              <a:ext uri="{FF2B5EF4-FFF2-40B4-BE49-F238E27FC236}">
                <a16:creationId xmlns:a16="http://schemas.microsoft.com/office/drawing/2014/main" id="{91DB420E-A0C5-E86E-66AD-626AA1CD2C6F}"/>
              </a:ext>
            </a:extLst>
          </p:cNvPr>
          <p:cNvPicPr>
            <a:picLocks noChangeAspect="1"/>
          </p:cNvPicPr>
          <p:nvPr>
            <a:audioFile r:link="rId10"/>
            <p:extLst>
              <p:ext uri="{DAA4B4D4-6D71-4841-9C94-3DE7FCFB9230}">
                <p14:media xmlns:p14="http://schemas.microsoft.com/office/powerpoint/2010/main" r:embed="rId9"/>
              </p:ext>
            </p:extLst>
          </p:nvPr>
        </p:nvPicPr>
        <p:blipFill>
          <a:blip r:embed="rId13"/>
          <a:stretch>
            <a:fillRect/>
          </a:stretch>
        </p:blipFill>
        <p:spPr>
          <a:xfrm>
            <a:off x="4327525" y="3184525"/>
            <a:ext cx="487363" cy="4873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559"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9050" fill="hold"/>
                                        <p:tgtEl>
                                          <p:spTgt spid="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21141" fill="hold"/>
                                        <p:tgtEl>
                                          <p:spTgt spid="8"/>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20309" fill="hold"/>
                                        <p:tgtEl>
                                          <p:spTgt spid="10"/>
                                        </p:tgtEl>
                                      </p:cBhvr>
                                    </p:cmd>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20309" fill="hold"/>
                                        <p:tgtEl>
                                          <p:spTgt spid="11"/>
                                        </p:tgtEl>
                                      </p:cBhvr>
                                    </p:cmd>
                                  </p:childTnLst>
                                </p:cTn>
                              </p:par>
                            </p:childTnLst>
                          </p:cTn>
                        </p:par>
                        <p:par>
                          <p:cTn id="23" fill="hold">
                            <p:stCondLst>
                              <p:cond delay="20309"/>
                            </p:stCondLst>
                            <p:childTnLst>
                              <p:par>
                                <p:cTn id="24" presetID="1" presetClass="mediacall" presetSubtype="0" fill="hold" nodeType="afterEffect">
                                  <p:stCondLst>
                                    <p:cond delay="0"/>
                                  </p:stCondLst>
                                  <p:childTnLst>
                                    <p:cmd type="call" cmd="playFrom(0.0)">
                                      <p:cBhvr>
                                        <p:cTn id="25" dur="1964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6" fill="hold" display="0">
                  <p:stCondLst>
                    <p:cond delay="indefinite"/>
                  </p:stCondLst>
                  <p:endCondLst>
                    <p:cond evt="onStopAudio" delay="0">
                      <p:tgtEl>
                        <p:sldTgt/>
                      </p:tgtEl>
                    </p:cond>
                  </p:endCondLst>
                </p:cTn>
                <p:tgtEl>
                  <p:spTgt spid="4"/>
                </p:tgtEl>
              </p:cMediaNode>
            </p:audio>
            <p:audio>
              <p:cMediaNode vol="80000">
                <p:cTn id="27" fill="hold" display="0">
                  <p:stCondLst>
                    <p:cond delay="indefinite"/>
                  </p:stCondLst>
                  <p:endCondLst>
                    <p:cond evt="onStopAudio" delay="0">
                      <p:tgtEl>
                        <p:sldTgt/>
                      </p:tgtEl>
                    </p:cond>
                  </p:endCondLst>
                </p:cTn>
                <p:tgtEl>
                  <p:spTgt spid="7"/>
                </p:tgtEl>
              </p:cMediaNode>
            </p:audio>
            <p:audio>
              <p:cMediaNode vol="80000">
                <p:cTn id="28" fill="hold" display="0">
                  <p:stCondLst>
                    <p:cond delay="indefinite"/>
                  </p:stCondLst>
                  <p:endCondLst>
                    <p:cond evt="onStopAudio" delay="0">
                      <p:tgtEl>
                        <p:sldTgt/>
                      </p:tgtEl>
                    </p:cond>
                  </p:endCondLst>
                </p:cTn>
                <p:tgtEl>
                  <p:spTgt spid="8"/>
                </p:tgtEl>
              </p:cMediaNode>
            </p:audio>
            <p:audio>
              <p:cMediaNode vol="80000">
                <p:cTn id="29" fill="hold" display="0">
                  <p:stCondLst>
                    <p:cond delay="indefinite"/>
                  </p:stCondLst>
                  <p:endCondLst>
                    <p:cond evt="onStopAudio" delay="0">
                      <p:tgtEl>
                        <p:sldTgt/>
                      </p:tgtEl>
                    </p:cond>
                  </p:endCondLst>
                </p:cTn>
                <p:tgtEl>
                  <p:spTgt spid="10"/>
                </p:tgtEl>
              </p:cMediaNode>
            </p:audio>
            <p:audio>
              <p:cMediaNode vol="80000">
                <p:cTn id="30" fill="hold" display="0">
                  <p:stCondLst>
                    <p:cond delay="indefinite"/>
                  </p:stCondLst>
                  <p:endCondLst>
                    <p:cond evt="onStopAudio" delay="0">
                      <p:tgtEl>
                        <p:sldTgt/>
                      </p:tgtEl>
                    </p:cond>
                  </p:endCondLst>
                </p:cTn>
                <p:tgtEl>
                  <p:spTgt spid="11"/>
                </p:tgtEl>
              </p:cMediaNode>
            </p:audio>
            <p:audio>
              <p:cMediaNode vol="80000">
                <p:cTn id="31" fill="hold" display="0">
                  <p:stCondLst>
                    <p:cond delay="indefinite"/>
                  </p:stCondLst>
                  <p:endCondLst>
                    <p:cond evt="onStopAudio" delay="0">
                      <p:tgtEl>
                        <p:sldTgt/>
                      </p:tgtEl>
                    </p:cond>
                  </p:endCondLst>
                </p:cTn>
                <p:tgtEl>
                  <p:spTgt spid="1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1F5F82-0CA4-D163-3DEC-0BF82181996B}"/>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B63E65E4-9C0B-6DCC-7E9A-08DCCF6A55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Recorded Sound">
            <a:hlinkClick r:id="" action="ppaction://media"/>
            <a:extLst>
              <a:ext uri="{FF2B5EF4-FFF2-40B4-BE49-F238E27FC236}">
                <a16:creationId xmlns:a16="http://schemas.microsoft.com/office/drawing/2014/main" id="{979AA84B-E3F1-A5FF-1200-F67FD6BED4C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4327525" y="3184525"/>
            <a:ext cx="487363" cy="487363"/>
          </a:xfrm>
          <a:prstGeom prst="rect">
            <a:avLst/>
          </a:prstGeom>
        </p:spPr>
      </p:pic>
      <p:pic>
        <p:nvPicPr>
          <p:cNvPr id="5" name="AUDIO-2025-04-29-21-12-10">
            <a:hlinkClick r:id="" action="ppaction://media"/>
            <a:extLst>
              <a:ext uri="{FF2B5EF4-FFF2-40B4-BE49-F238E27FC236}">
                <a16:creationId xmlns:a16="http://schemas.microsoft.com/office/drawing/2014/main" id="{956260D8-1BF3-9B9F-BC6A-81066A4C2FEE}"/>
              </a:ext>
            </a:extLst>
          </p:cNvPr>
          <p:cNvPicPr>
            <a:picLocks noChangeAspect="1"/>
          </p:cNvPicPr>
          <p:nvPr>
            <a:audioFile r:link="rId4"/>
            <p:extLst>
              <p:ext uri="{DAA4B4D4-6D71-4841-9C94-3DE7FCFB9230}">
                <p14:media xmlns:p14="http://schemas.microsoft.com/office/powerpoint/2010/main" r:embed="rId3"/>
              </p:ext>
            </p:extLst>
          </p:nvPr>
        </p:nvPicPr>
        <p:blipFill>
          <a:blip r:embed="rId8"/>
          <a:stretch>
            <a:fillRect/>
          </a:stretch>
        </p:blipFill>
        <p:spPr>
          <a:xfrm>
            <a:off x="4327525" y="3184525"/>
            <a:ext cx="487363" cy="487363"/>
          </a:xfrm>
          <a:prstGeom prst="rect">
            <a:avLst/>
          </a:prstGeom>
        </p:spPr>
      </p:pic>
    </p:spTree>
    <p:extLst>
      <p:ext uri="{BB962C8B-B14F-4D97-AF65-F5344CB8AC3E}">
        <p14:creationId xmlns:p14="http://schemas.microsoft.com/office/powerpoint/2010/main" val="263447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par>
                          <p:cTn id="11" fill="hold">
                            <p:stCondLst>
                              <p:cond delay="1700"/>
                            </p:stCondLst>
                            <p:childTnLst>
                              <p:par>
                                <p:cTn id="12" presetID="1" presetClass="mediacall" presetSubtype="0" fill="hold" nodeType="afterEffect">
                                  <p:stCondLst>
                                    <p:cond delay="0"/>
                                  </p:stCondLst>
                                  <p:childTnLst>
                                    <p:cmd type="call" cmd="playFrom(0.0)">
                                      <p:cBhvr>
                                        <p:cTn id="13" dur="4245" fill="hold"/>
                                        <p:tgtEl>
                                          <p:spTgt spid="3"/>
                                        </p:tgtEl>
                                      </p:cBhvr>
                                    </p:cmd>
                                  </p:childTnLst>
                                </p:cTn>
                              </p:par>
                            </p:childTnLst>
                          </p:cTn>
                        </p:par>
                        <p:par>
                          <p:cTn id="14" fill="hold">
                            <p:stCondLst>
                              <p:cond delay="5945"/>
                            </p:stCondLst>
                            <p:childTnLst>
                              <p:par>
                                <p:cTn id="15" presetID="1" presetClass="mediacall" presetSubtype="0" fill="hold" nodeType="afterEffect">
                                  <p:stCondLst>
                                    <p:cond delay="0"/>
                                  </p:stCondLst>
                                  <p:childTnLst>
                                    <p:cmd type="call" cmd="playFrom(0.0)">
                                      <p:cBhvr>
                                        <p:cTn id="16" dur="189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7" fill="hold" display="0">
                  <p:stCondLst>
                    <p:cond delay="indefinite"/>
                  </p:stCondLst>
                  <p:endCondLst>
                    <p:cond evt="onStopAudio" delay="0">
                      <p:tgtEl>
                        <p:sldTgt/>
                      </p:tgtEl>
                    </p:cond>
                  </p:endCondLst>
                </p:cTn>
                <p:tgtEl>
                  <p:spTgt spid="3"/>
                </p:tgtEl>
              </p:cMediaNode>
            </p:audio>
            <p:audio>
              <p:cMediaNode vol="80000">
                <p:cTn id="18" fill="hold" display="0">
                  <p:stCondLst>
                    <p:cond delay="indefinite"/>
                  </p:stCondLst>
                  <p:endCondLst>
                    <p:cond evt="onStopAudio" delay="0">
                      <p:tgtEl>
                        <p:sldTgt/>
                      </p:tgtEl>
                    </p:cond>
                  </p:endCondLst>
                </p:cTn>
                <p:tgtEl>
                  <p:spTgt spid="5"/>
                </p:tgtEl>
              </p:cMediaNode>
            </p:audio>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CIFAR10_CNN_Presentation (1)</Template>
  <TotalTime>98</TotalTime>
  <Words>1757</Words>
  <Application>Microsoft Office PowerPoint</Application>
  <PresentationFormat>On-screen Show (4:3)</PresentationFormat>
  <Paragraphs>121</Paragraphs>
  <Slides>13</Slides>
  <Notes>2</Notes>
  <HiddenSlides>0</HiddenSlides>
  <MMClips>29</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72</vt:lpstr>
      <vt:lpstr>Aptos</vt:lpstr>
      <vt:lpstr>Arial</vt:lpstr>
      <vt:lpstr>Calibri</vt:lpstr>
      <vt:lpstr>Office Theme</vt:lpstr>
      <vt:lpstr>PowerPoint Presentation</vt:lpstr>
      <vt:lpstr>CIFAR-10 Image Classification using Deep Learning (CNNs)  Advanced Machine Learning (BA-64061-001)  Dr. CJ Wu  Presented By Rajesh Katherasala rkathera@kent.edu </vt:lpstr>
      <vt:lpstr>Abstract</vt:lpstr>
      <vt:lpstr>Introduction</vt:lpstr>
      <vt:lpstr>Problem Statement</vt:lpstr>
      <vt:lpstr>Literature Review</vt:lpstr>
      <vt:lpstr>Industry Applications</vt:lpstr>
      <vt:lpstr>Dataset &amp; Preprocessing</vt:lpstr>
      <vt:lpstr>Model Architecture and Training</vt:lpstr>
      <vt:lpstr>Model Results and Evaluation</vt:lpstr>
      <vt:lpstr>Results &amp; Analysis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Katherasala, Rajesh</dc:creator>
  <cp:keywords/>
  <dc:description>generated using python-pptx</dc:description>
  <cp:lastModifiedBy>Katherasala, Rajesh</cp:lastModifiedBy>
  <cp:revision>4</cp:revision>
  <dcterms:created xsi:type="dcterms:W3CDTF">2025-04-30T00:05:51Z</dcterms:created>
  <dcterms:modified xsi:type="dcterms:W3CDTF">2025-04-30T02:01:03Z</dcterms:modified>
  <cp:category/>
</cp:coreProperties>
</file>